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4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7" r:id="rId2"/>
    <p:sldId id="258" r:id="rId3"/>
    <p:sldId id="259" r:id="rId4"/>
    <p:sldId id="260" r:id="rId5"/>
    <p:sldId id="261" r:id="rId6"/>
    <p:sldId id="275" r:id="rId7"/>
    <p:sldId id="262" r:id="rId8"/>
    <p:sldId id="276" r:id="rId9"/>
    <p:sldId id="263" r:id="rId10"/>
    <p:sldId id="264" r:id="rId11"/>
    <p:sldId id="265" r:id="rId12"/>
    <p:sldId id="266" r:id="rId13"/>
    <p:sldId id="267" r:id="rId14"/>
    <p:sldId id="280" r:id="rId15"/>
    <p:sldId id="277" r:id="rId16"/>
    <p:sldId id="268" r:id="rId17"/>
    <p:sldId id="269" r:id="rId18"/>
    <p:sldId id="278" r:id="rId19"/>
    <p:sldId id="270" r:id="rId20"/>
    <p:sldId id="271" r:id="rId21"/>
    <p:sldId id="281" r:id="rId22"/>
    <p:sldId id="279" r:id="rId23"/>
    <p:sldId id="272" r:id="rId24"/>
    <p:sldId id="273" r:id="rId2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722B98-188E-45D3-9771-53015DCEA9BD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0E2F6F-C300-48B8-AB12-E45B87785B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169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0E2F6F-C300-48B8-AB12-E45B87785B46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24494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150" y="38100"/>
            <a:ext cx="3667124" cy="50482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45463" y="283463"/>
            <a:ext cx="10101072" cy="12000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7575" y="1730872"/>
            <a:ext cx="8149590" cy="30880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505148" y="6451049"/>
            <a:ext cx="644525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104626" y="6451049"/>
            <a:ext cx="215900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10445453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ieeexplore.ieee.org/document/10940943" TargetMode="External"/><Relationship Id="rId4" Type="http://schemas.openxmlformats.org/officeDocument/2006/relationships/hyperlink" Target="https://ieeexplore.ieee.org/document/11042363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11031568" TargetMode="External"/><Relationship Id="rId2" Type="http://schemas.openxmlformats.org/officeDocument/2006/relationships/hyperlink" Target="https://ieeexplore.ieee.org/document/10770708" TargetMode="Externa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91075" y="1000061"/>
            <a:ext cx="2862326" cy="70008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45463" y="283463"/>
            <a:ext cx="10101072" cy="1562461"/>
          </a:xfrm>
          <a:prstGeom prst="rect">
            <a:avLst/>
          </a:prstGeom>
        </p:spPr>
        <p:txBody>
          <a:bodyPr vert="horz" wrap="square" lIns="0" tIns="478010" rIns="0" bIns="0" rtlCol="0">
            <a:spAutoFit/>
          </a:bodyPr>
          <a:lstStyle/>
          <a:p>
            <a:pPr marL="248285" algn="ctr">
              <a:lnSpc>
                <a:spcPct val="100000"/>
              </a:lnSpc>
              <a:spcBef>
                <a:spcPts val="509"/>
              </a:spcBef>
            </a:pPr>
            <a:r>
              <a:rPr sz="1800" dirty="0"/>
              <a:t>Department</a:t>
            </a:r>
            <a:r>
              <a:rPr sz="1800" spc="-20" dirty="0"/>
              <a:t> </a:t>
            </a:r>
            <a:r>
              <a:rPr sz="1800" dirty="0"/>
              <a:t>of</a:t>
            </a:r>
            <a:r>
              <a:rPr sz="1800" spc="-5" dirty="0"/>
              <a:t> </a:t>
            </a:r>
            <a:r>
              <a:rPr sz="1800" dirty="0"/>
              <a:t>Computer</a:t>
            </a:r>
            <a:r>
              <a:rPr sz="1800" spc="-60" dirty="0"/>
              <a:t> </a:t>
            </a:r>
            <a:r>
              <a:rPr sz="1800" dirty="0"/>
              <a:t>Science</a:t>
            </a:r>
            <a:r>
              <a:rPr sz="1800" spc="15" dirty="0"/>
              <a:t> </a:t>
            </a:r>
            <a:r>
              <a:rPr sz="1800" dirty="0"/>
              <a:t>and</a:t>
            </a:r>
            <a:r>
              <a:rPr sz="1800" spc="40" dirty="0"/>
              <a:t> </a:t>
            </a:r>
            <a:r>
              <a:rPr sz="1800" spc="-10" dirty="0"/>
              <a:t>Engineering</a:t>
            </a:r>
            <a:endParaRPr sz="1800" dirty="0"/>
          </a:p>
          <a:p>
            <a:pPr marL="248285" algn="ctr">
              <a:lnSpc>
                <a:spcPct val="100000"/>
              </a:lnSpc>
              <a:spcBef>
                <a:spcPts val="545"/>
              </a:spcBef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DEEP LEARNING MODEL FOR AUTOMATED KIDNEY DISEASE CLASSIFICATION USING CT IMAGING</a:t>
            </a:r>
            <a:endParaRPr sz="2400" dirty="0">
              <a:solidFill>
                <a:srgbClr val="FF0000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04840" y="1946592"/>
            <a:ext cx="150304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latin typeface="Times New Roman"/>
                <a:cs typeface="Times New Roman"/>
              </a:rPr>
              <a:t>PRESENTED</a:t>
            </a:r>
            <a:r>
              <a:rPr sz="1550" spc="175" dirty="0">
                <a:latin typeface="Times New Roman"/>
                <a:cs typeface="Times New Roman"/>
              </a:rPr>
              <a:t> </a:t>
            </a:r>
            <a:r>
              <a:rPr sz="1550" spc="-25" dirty="0">
                <a:latin typeface="Times New Roman"/>
                <a:cs typeface="Times New Roman"/>
              </a:rPr>
              <a:t>BY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91839" y="2186876"/>
            <a:ext cx="1697989" cy="9830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37300"/>
              </a:lnSpc>
              <a:spcBef>
                <a:spcPts val="95"/>
              </a:spcBef>
            </a:pPr>
            <a:r>
              <a:rPr lang="en-IN" sz="1550" spc="-10" dirty="0">
                <a:latin typeface="Times New Roman"/>
                <a:cs typeface="Times New Roman"/>
              </a:rPr>
              <a:t>Karishma Pathan      </a:t>
            </a:r>
            <a:r>
              <a:rPr sz="1550" spc="-10" dirty="0">
                <a:latin typeface="Times New Roman"/>
                <a:cs typeface="Times New Roman"/>
              </a:rPr>
              <a:t> </a:t>
            </a:r>
            <a:r>
              <a:rPr lang="en-IN" sz="1550" spc="-10" dirty="0">
                <a:latin typeface="Times New Roman"/>
                <a:cs typeface="Times New Roman"/>
              </a:rPr>
              <a:t>                  </a:t>
            </a:r>
          </a:p>
          <a:p>
            <a:pPr marL="12700" marR="5080" algn="just">
              <a:lnSpc>
                <a:spcPct val="137300"/>
              </a:lnSpc>
              <a:spcBef>
                <a:spcPts val="95"/>
              </a:spcBef>
            </a:pPr>
            <a:r>
              <a:rPr lang="en-IN" sz="1550" spc="-10" dirty="0">
                <a:latin typeface="Times New Roman"/>
                <a:cs typeface="Times New Roman"/>
              </a:rPr>
              <a:t>Sumiya Shaik </a:t>
            </a:r>
          </a:p>
          <a:p>
            <a:pPr marL="12700" marR="5080" algn="just">
              <a:lnSpc>
                <a:spcPct val="137300"/>
              </a:lnSpc>
              <a:spcBef>
                <a:spcPts val="95"/>
              </a:spcBef>
            </a:pPr>
            <a:r>
              <a:rPr lang="en-IN" sz="1550" spc="-10" dirty="0">
                <a:latin typeface="Times New Roman"/>
                <a:cs typeface="Times New Roman"/>
              </a:rPr>
              <a:t>Sowjanya Koduri</a:t>
            </a:r>
            <a:endParaRPr sz="155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52359" y="1998043"/>
            <a:ext cx="1310641" cy="99578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sz="1550" dirty="0">
                <a:latin typeface="Times New Roman"/>
                <a:cs typeface="Times New Roman"/>
              </a:rPr>
              <a:t>(</a:t>
            </a:r>
            <a:r>
              <a:rPr lang="en-IN" sz="1550" dirty="0">
                <a:latin typeface="Times New Roman"/>
                <a:cs typeface="Times New Roman"/>
              </a:rPr>
              <a:t>22471A05B7</a:t>
            </a:r>
            <a:r>
              <a:rPr sz="1550" spc="-20" dirty="0">
                <a:latin typeface="Times New Roman"/>
                <a:cs typeface="Times New Roman"/>
              </a:rPr>
              <a:t>)</a:t>
            </a:r>
            <a:endParaRPr sz="15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550" dirty="0">
                <a:latin typeface="Times New Roman"/>
                <a:cs typeface="Times New Roman"/>
              </a:rPr>
              <a:t>(</a:t>
            </a:r>
            <a:r>
              <a:rPr lang="en-IN" sz="1550" dirty="0">
                <a:latin typeface="Times New Roman"/>
                <a:cs typeface="Times New Roman"/>
              </a:rPr>
              <a:t>22471A05C8</a:t>
            </a:r>
            <a:r>
              <a:rPr sz="1550" spc="-20" dirty="0">
                <a:latin typeface="Times New Roman"/>
                <a:cs typeface="Times New Roman"/>
              </a:rPr>
              <a:t>)</a:t>
            </a:r>
            <a:endParaRPr sz="15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550" dirty="0">
                <a:latin typeface="Times New Roman"/>
                <a:cs typeface="Times New Roman"/>
              </a:rPr>
              <a:t>(</a:t>
            </a:r>
            <a:r>
              <a:rPr lang="en-IN" sz="1550" dirty="0">
                <a:latin typeface="Times New Roman"/>
                <a:cs typeface="Times New Roman"/>
              </a:rPr>
              <a:t>22471A0577</a:t>
            </a:r>
            <a:r>
              <a:rPr sz="1550" spc="-20" dirty="0">
                <a:latin typeface="Times New Roman"/>
                <a:cs typeface="Times New Roman"/>
              </a:rPr>
              <a:t>)</a:t>
            </a:r>
            <a:endParaRPr sz="155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64634" y="3599878"/>
            <a:ext cx="4304665" cy="2249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6600"/>
                </a:solidFill>
                <a:latin typeface="Times New Roman"/>
                <a:cs typeface="Times New Roman"/>
              </a:rPr>
              <a:t>Under</a:t>
            </a:r>
            <a:r>
              <a:rPr sz="1800" spc="20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6600"/>
                </a:solidFill>
                <a:latin typeface="Times New Roman"/>
                <a:cs typeface="Times New Roman"/>
              </a:rPr>
              <a:t>the</a:t>
            </a:r>
            <a:r>
              <a:rPr sz="1800" spc="-30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6600"/>
                </a:solidFill>
                <a:latin typeface="Times New Roman"/>
                <a:cs typeface="Times New Roman"/>
              </a:rPr>
              <a:t>Guidance</a:t>
            </a:r>
            <a:r>
              <a:rPr sz="1800" spc="-25" dirty="0">
                <a:solidFill>
                  <a:srgbClr val="006600"/>
                </a:solidFill>
                <a:latin typeface="Times New Roman"/>
                <a:cs typeface="Times New Roman"/>
              </a:rPr>
              <a:t> of,</a:t>
            </a:r>
            <a:endParaRPr sz="18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770"/>
              </a:spcBef>
            </a:pPr>
            <a:r>
              <a:rPr lang="en-IN" sz="1550" b="1" spc="-85" dirty="0">
                <a:latin typeface="Times New Roman"/>
                <a:cs typeface="Times New Roman"/>
              </a:rPr>
              <a:t>DR .Siva Nageswara </a:t>
            </a:r>
            <a:r>
              <a:rPr lang="en-IN" sz="1550" b="1" spc="-85" dirty="0" err="1">
                <a:latin typeface="Times New Roman"/>
                <a:cs typeface="Times New Roman"/>
              </a:rPr>
              <a:t>rao</a:t>
            </a:r>
            <a:r>
              <a:rPr sz="1550" b="1" spc="-85" dirty="0">
                <a:latin typeface="Times New Roman"/>
                <a:cs typeface="Times New Roman"/>
              </a:rPr>
              <a:t> </a:t>
            </a:r>
            <a:r>
              <a:rPr sz="1575" b="1" spc="-15" baseline="-15873" dirty="0">
                <a:latin typeface="Times New Roman"/>
                <a:cs typeface="Times New Roman"/>
              </a:rPr>
              <a:t>Qualification</a:t>
            </a:r>
            <a:r>
              <a:rPr sz="1550" b="1" spc="-10" dirty="0">
                <a:latin typeface="Times New Roman"/>
                <a:cs typeface="Times New Roman"/>
              </a:rPr>
              <a:t>,</a:t>
            </a:r>
            <a:endParaRPr sz="155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470"/>
              </a:spcBef>
            </a:pPr>
            <a:r>
              <a:rPr sz="1550" spc="-10" dirty="0">
                <a:solidFill>
                  <a:srgbClr val="888888"/>
                </a:solidFill>
                <a:latin typeface="Times New Roman"/>
                <a:cs typeface="Times New Roman"/>
              </a:rPr>
              <a:t>Designation,</a:t>
            </a:r>
            <a:endParaRPr sz="155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995"/>
              </a:spcBef>
            </a:pP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550" spc="9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550" spc="18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Computer</a:t>
            </a:r>
            <a:r>
              <a:rPr sz="1550" spc="8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Science</a:t>
            </a:r>
            <a:r>
              <a:rPr sz="1550" spc="14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and</a:t>
            </a:r>
            <a:r>
              <a:rPr sz="1550" spc="13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888888"/>
                </a:solidFill>
                <a:latin typeface="Times New Roman"/>
                <a:cs typeface="Times New Roman"/>
              </a:rPr>
              <a:t>Engineering,</a:t>
            </a:r>
            <a:endParaRPr sz="1550" dirty="0">
              <a:latin typeface="Times New Roman"/>
              <a:cs typeface="Times New Roman"/>
            </a:endParaRPr>
          </a:p>
          <a:p>
            <a:pPr marL="57785" marR="61594" algn="ctr">
              <a:lnSpc>
                <a:spcPct val="173700"/>
              </a:lnSpc>
              <a:spcBef>
                <a:spcPts val="70"/>
              </a:spcBef>
            </a:pP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Narasaraopeta</a:t>
            </a:r>
            <a:r>
              <a:rPr sz="1550" spc="20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Engineering</a:t>
            </a:r>
            <a:r>
              <a:rPr sz="1550" spc="1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College</a:t>
            </a:r>
            <a:r>
              <a:rPr sz="1550" spc="204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888888"/>
                </a:solidFill>
                <a:latin typeface="Times New Roman"/>
                <a:cs typeface="Times New Roman"/>
              </a:rPr>
              <a:t>(Autonomous),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Narasaraopet-</a:t>
            </a:r>
            <a:r>
              <a:rPr sz="1550" spc="1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522</a:t>
            </a:r>
            <a:r>
              <a:rPr sz="1550" spc="1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spc="-20" dirty="0">
                <a:solidFill>
                  <a:srgbClr val="888888"/>
                </a:solidFill>
                <a:latin typeface="Times New Roman"/>
                <a:cs typeface="Times New Roman"/>
              </a:rPr>
              <a:t>601.</a:t>
            </a:r>
            <a:endParaRPr sz="1550" dirty="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675" y="131344"/>
            <a:ext cx="3648074" cy="505326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</a:t>
            </a:fld>
            <a:endParaRPr spc="-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69255" y="529843"/>
            <a:ext cx="2613025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OUTLINE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7575" y="1173924"/>
            <a:ext cx="3450590" cy="4508500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527050" indent="-514350">
              <a:lnSpc>
                <a:spcPct val="100000"/>
              </a:lnSpc>
              <a:spcBef>
                <a:spcPts val="490"/>
              </a:spcBef>
              <a:buAutoNum type="arabicPeriod"/>
              <a:tabLst>
                <a:tab pos="527050" algn="l"/>
              </a:tabLst>
            </a:pPr>
            <a:r>
              <a:rPr sz="1800" spc="-10" dirty="0">
                <a:latin typeface="Times New Roman"/>
                <a:cs typeface="Times New Roman"/>
              </a:rPr>
              <a:t>Abstract</a:t>
            </a:r>
            <a:endParaRPr sz="180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90"/>
              </a:spcBef>
              <a:buAutoNum type="arabicPeriod"/>
              <a:tabLst>
                <a:tab pos="527050" algn="l"/>
              </a:tabLst>
            </a:pPr>
            <a:r>
              <a:rPr sz="1800" spc="-10" dirty="0">
                <a:latin typeface="Times New Roman"/>
                <a:cs typeface="Times New Roman"/>
              </a:rPr>
              <a:t>Introduction</a:t>
            </a:r>
            <a:endParaRPr sz="180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20"/>
              </a:spcBef>
              <a:buAutoNum type="arabicPeriod"/>
              <a:tabLst>
                <a:tab pos="527050" algn="l"/>
              </a:tabLst>
            </a:pPr>
            <a:r>
              <a:rPr sz="1800" dirty="0">
                <a:latin typeface="Times New Roman"/>
                <a:cs typeface="Times New Roman"/>
              </a:rPr>
              <a:t>Literature</a:t>
            </a:r>
            <a:r>
              <a:rPr sz="1800" spc="-10" dirty="0">
                <a:latin typeface="Times New Roman"/>
                <a:cs typeface="Times New Roman"/>
              </a:rPr>
              <a:t> Survey</a:t>
            </a:r>
            <a:endParaRPr sz="180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95"/>
              </a:spcBef>
              <a:buAutoNum type="arabicPeriod"/>
              <a:tabLst>
                <a:tab pos="527050" algn="l"/>
              </a:tabLst>
            </a:pPr>
            <a:r>
              <a:rPr sz="1800" dirty="0">
                <a:latin typeface="Times New Roman"/>
                <a:cs typeface="Times New Roman"/>
              </a:rPr>
              <a:t>Research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Gaps</a:t>
            </a:r>
            <a:endParaRPr sz="180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20"/>
              </a:spcBef>
              <a:buAutoNum type="arabicPeriod"/>
              <a:tabLst>
                <a:tab pos="527050" algn="l"/>
              </a:tabLst>
            </a:pPr>
            <a:r>
              <a:rPr sz="1800" dirty="0">
                <a:latin typeface="Times New Roman"/>
                <a:cs typeface="Times New Roman"/>
              </a:rPr>
              <a:t>Problem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Statement</a:t>
            </a:r>
            <a:endParaRPr sz="180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90"/>
              </a:spcBef>
              <a:buAutoNum type="arabicPeriod"/>
              <a:tabLst>
                <a:tab pos="527050" algn="l"/>
              </a:tabLst>
            </a:pPr>
            <a:r>
              <a:rPr sz="1800" spc="-10" dirty="0">
                <a:latin typeface="Times New Roman"/>
                <a:cs typeface="Times New Roman"/>
              </a:rPr>
              <a:t>Objectives</a:t>
            </a:r>
            <a:endParaRPr sz="180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20"/>
              </a:spcBef>
              <a:buAutoNum type="arabicPeriod"/>
              <a:tabLst>
                <a:tab pos="527050" algn="l"/>
              </a:tabLst>
            </a:pPr>
            <a:r>
              <a:rPr sz="1800" dirty="0">
                <a:latin typeface="Times New Roman"/>
                <a:cs typeface="Times New Roman"/>
              </a:rPr>
              <a:t>Block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Diagram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/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Flow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Diagram</a:t>
            </a:r>
            <a:endParaRPr sz="180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90"/>
              </a:spcBef>
              <a:buAutoNum type="arabicPeriod"/>
              <a:tabLst>
                <a:tab pos="527050" algn="l"/>
              </a:tabLst>
            </a:pPr>
            <a:r>
              <a:rPr sz="1800" spc="-10" dirty="0">
                <a:latin typeface="Times New Roman"/>
                <a:cs typeface="Times New Roman"/>
              </a:rPr>
              <a:t>Methodology</a:t>
            </a:r>
            <a:endParaRPr sz="180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20"/>
              </a:spcBef>
              <a:buAutoNum type="arabicPeriod"/>
              <a:tabLst>
                <a:tab pos="527050" algn="l"/>
              </a:tabLst>
            </a:pPr>
            <a:r>
              <a:rPr sz="1800" spc="-10" dirty="0">
                <a:latin typeface="Times New Roman"/>
                <a:cs typeface="Times New Roman"/>
              </a:rPr>
              <a:t>Implementation</a:t>
            </a:r>
            <a:endParaRPr sz="180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95"/>
              </a:spcBef>
              <a:buAutoNum type="arabicPeriod"/>
              <a:tabLst>
                <a:tab pos="527050" algn="l"/>
              </a:tabLst>
            </a:pPr>
            <a:r>
              <a:rPr sz="1800" dirty="0">
                <a:latin typeface="Times New Roman"/>
                <a:cs typeface="Times New Roman"/>
              </a:rPr>
              <a:t>Results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and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Analysis</a:t>
            </a:r>
            <a:endParaRPr sz="180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527050" algn="l"/>
              </a:tabLst>
            </a:pPr>
            <a:r>
              <a:rPr sz="1800" dirty="0">
                <a:latin typeface="Times New Roman"/>
                <a:cs typeface="Times New Roman"/>
              </a:rPr>
              <a:t>Conclusion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&amp;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Future </a:t>
            </a:r>
            <a:r>
              <a:rPr sz="1800" spc="-20" dirty="0">
                <a:latin typeface="Times New Roman"/>
                <a:cs typeface="Times New Roman"/>
              </a:rPr>
              <a:t>Scope</a:t>
            </a:r>
            <a:endParaRPr sz="180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527050" algn="l"/>
              </a:tabLst>
            </a:pPr>
            <a:r>
              <a:rPr sz="1800" spc="-10" dirty="0">
                <a:latin typeface="Times New Roman"/>
                <a:cs typeface="Times New Roman"/>
              </a:rPr>
              <a:t>References</a:t>
            </a:r>
            <a:endParaRPr sz="180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527050" algn="l"/>
              </a:tabLst>
            </a:pPr>
            <a:r>
              <a:rPr sz="1800" dirty="0">
                <a:latin typeface="Times New Roman"/>
                <a:cs typeface="Times New Roman"/>
              </a:rPr>
              <a:t>Question </a:t>
            </a:r>
            <a:r>
              <a:rPr sz="1800" spc="-20" dirty="0">
                <a:latin typeface="Times New Roman"/>
                <a:cs typeface="Times New Roman"/>
              </a:rPr>
              <a:t>and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Answers</a:t>
            </a:r>
            <a:endParaRPr sz="180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95"/>
              </a:spcBef>
              <a:buAutoNum type="arabicPeriod"/>
              <a:tabLst>
                <a:tab pos="527050" algn="l"/>
              </a:tabLst>
            </a:pPr>
            <a:r>
              <a:rPr sz="1800" spc="-10" dirty="0">
                <a:latin typeface="Times New Roman"/>
                <a:cs typeface="Times New Roman"/>
              </a:rPr>
              <a:t>Acknowledgements</a:t>
            </a:r>
            <a:endParaRPr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1096" y="838200"/>
            <a:ext cx="10101072" cy="5005215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r>
              <a:rPr lang="en-US" spc="-10" dirty="0"/>
              <a:t>                       ABSTRACT</a:t>
            </a:r>
            <a:br>
              <a:rPr lang="en-US" spc="-10" dirty="0"/>
            </a:br>
            <a:r>
              <a:rPr lang="en-US" sz="2400" b="0" dirty="0">
                <a:latin typeface="Arial" panose="020B0604020202020204" pitchFamily="34" charset="0"/>
                <a:cs typeface="Arial" panose="020B0604020202020204" pitchFamily="34" charset="0"/>
              </a:rPr>
              <a:t>Developed an AI-powered diagnostic framework for automated kidney disease classification using CT images.</a:t>
            </a:r>
            <a:br>
              <a:rPr lang="en-US" sz="2400" b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0" dirty="0">
                <a:latin typeface="Arial" panose="020B0604020202020204" pitchFamily="34" charset="0"/>
                <a:cs typeface="Arial" panose="020B0604020202020204" pitchFamily="34" charset="0"/>
              </a:rPr>
              <a:t>Implemented a lightweight YOLOv8n-cls model to classify CT scans into </a:t>
            </a:r>
            <a:r>
              <a:rPr lang="en-US" sz="2400" b="0" i="1" dirty="0">
                <a:latin typeface="Arial" panose="020B0604020202020204" pitchFamily="34" charset="0"/>
                <a:cs typeface="Arial" panose="020B0604020202020204" pitchFamily="34" charset="0"/>
              </a:rPr>
              <a:t>Normal, Cyst, Stone,</a:t>
            </a:r>
            <a:r>
              <a:rPr lang="en-US" sz="2400" b="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400" b="0" i="1" dirty="0">
                <a:latin typeface="Arial" panose="020B0604020202020204" pitchFamily="34" charset="0"/>
                <a:cs typeface="Arial" panose="020B0604020202020204" pitchFamily="34" charset="0"/>
              </a:rPr>
              <a:t>Tumor</a:t>
            </a:r>
            <a:r>
              <a:rPr lang="en-US" sz="2400" b="0" dirty="0">
                <a:latin typeface="Arial" panose="020B0604020202020204" pitchFamily="34" charset="0"/>
                <a:cs typeface="Arial" panose="020B0604020202020204" pitchFamily="34" charset="0"/>
              </a:rPr>
              <a:t> categories.</a:t>
            </a:r>
            <a:br>
              <a:rPr lang="en-US" sz="2400" b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0" dirty="0">
                <a:latin typeface="Arial" panose="020B0604020202020204" pitchFamily="34" charset="0"/>
                <a:cs typeface="Arial" panose="020B0604020202020204" pitchFamily="34" charset="0"/>
              </a:rPr>
              <a:t>Applied image preprocessing (CLAHE, denoising, resizing) and data augmentation to enhance accuracy and balance the dataset.</a:t>
            </a:r>
            <a:br>
              <a:rPr lang="en-US" sz="2400" b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0" dirty="0">
                <a:latin typeface="Arial" panose="020B0604020202020204" pitchFamily="34" charset="0"/>
                <a:cs typeface="Arial" panose="020B0604020202020204" pitchFamily="34" charset="0"/>
              </a:rPr>
              <a:t>Achieved a classification accuracy of 96.88%, proving effective even on CPU-based systems</a:t>
            </a:r>
            <a:r>
              <a:rPr lang="en-US" sz="2400" b="0" dirty="0"/>
              <a:t>.</a:t>
            </a:r>
            <a:br>
              <a:rPr lang="en-US" sz="2400" b="0" dirty="0"/>
            </a:br>
            <a:r>
              <a:rPr lang="en-US" sz="2400" b="0" dirty="0"/>
              <a:t>Designed for low-resource and rural healthcare settings, enabling real-time, reliable, and interpretable disease detection.</a:t>
            </a:r>
            <a:br>
              <a:rPr lang="en-US" sz="2400" b="0" dirty="0"/>
            </a:br>
            <a:endParaRPr sz="2400" b="0" spc="-10" dirty="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47FAA3CF-5B4B-86FF-3827-EE3F491B16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9391" y="1905000"/>
            <a:ext cx="9906000" cy="62786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98958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INTRODUCTION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FE3E93-4A00-CD5F-B980-1402E8FA1C87}"/>
              </a:ext>
            </a:extLst>
          </p:cNvPr>
          <p:cNvSpPr txBox="1"/>
          <p:nvPr/>
        </p:nvSpPr>
        <p:spPr>
          <a:xfrm>
            <a:off x="1143000" y="1371600"/>
            <a:ext cx="10668000" cy="3901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Kidney diseases like stones, cysts, and tumors are common and often detected late.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Manual CT image analysis is slow and prone to human error.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This work proposes a </a:t>
            </a:r>
            <a:r>
              <a:rPr lang="en-US" sz="2400" b="1" dirty="0"/>
              <a:t>YOLOv8n-cls–based model</a:t>
            </a:r>
            <a:r>
              <a:rPr lang="en-US" sz="2400" dirty="0"/>
              <a:t> for fast and accurate kidney disease classification.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The system ensures </a:t>
            </a:r>
            <a:r>
              <a:rPr lang="en-US" sz="2400" b="1" dirty="0"/>
              <a:t>high accuracy and real-time performance</a:t>
            </a:r>
            <a:r>
              <a:rPr lang="en-US" sz="2400" dirty="0"/>
              <a:t>, even on low-resource devices.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99865" y="283463"/>
            <a:ext cx="5544820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dirty="0"/>
              <a:t>LITERATURE</a:t>
            </a:r>
            <a:r>
              <a:rPr sz="3950" spc="-185" dirty="0"/>
              <a:t> </a:t>
            </a:r>
            <a:r>
              <a:rPr sz="3950" spc="-10" dirty="0"/>
              <a:t>SURVEY</a:t>
            </a:r>
            <a:endParaRPr sz="395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3233036"/>
              </p:ext>
            </p:extLst>
          </p:nvPr>
        </p:nvGraphicFramePr>
        <p:xfrm>
          <a:off x="533400" y="1143003"/>
          <a:ext cx="11125198" cy="50200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3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01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5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79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39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894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8940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38535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lang="en-IN" sz="1550" b="1" spc="-25" dirty="0">
                          <a:latin typeface="Calibri"/>
                          <a:cs typeface="Calibri"/>
                        </a:rPr>
                        <a:t>No</a:t>
                      </a:r>
                      <a:endParaRPr sz="1550" dirty="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spc="-10" dirty="0">
                          <a:latin typeface="Calibri"/>
                          <a:cs typeface="Calibri"/>
                        </a:rPr>
                        <a:t>Title</a:t>
                      </a:r>
                      <a:endParaRPr sz="1550" dirty="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514984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spc="-10" dirty="0">
                          <a:latin typeface="Calibri"/>
                          <a:cs typeface="Calibri"/>
                        </a:rPr>
                        <a:t>Author</a:t>
                      </a:r>
                      <a:endParaRPr sz="1550" dirty="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57225" marR="147955" indent="-494665">
                        <a:lnSpc>
                          <a:spcPct val="104900"/>
                        </a:lnSpc>
                        <a:spcBef>
                          <a:spcPts val="229"/>
                        </a:spcBef>
                      </a:pPr>
                      <a:r>
                        <a:rPr sz="1550" b="1" dirty="0">
                          <a:latin typeface="Calibri"/>
                          <a:cs typeface="Calibri"/>
                        </a:rPr>
                        <a:t>Journal</a:t>
                      </a:r>
                      <a:r>
                        <a:rPr sz="1550" b="1" spc="1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b="1" dirty="0">
                          <a:latin typeface="Calibri"/>
                          <a:cs typeface="Calibri"/>
                        </a:rPr>
                        <a:t>Name</a:t>
                      </a:r>
                      <a:r>
                        <a:rPr sz="1550" b="1" spc="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b="1" spc="-50" dirty="0">
                          <a:latin typeface="Calibri"/>
                          <a:cs typeface="Calibri"/>
                        </a:rPr>
                        <a:t>&amp; </a:t>
                      </a:r>
                      <a:r>
                        <a:rPr sz="1550" b="1" spc="-20" dirty="0">
                          <a:latin typeface="Calibri"/>
                          <a:cs typeface="Calibri"/>
                        </a:rPr>
                        <a:t>Year</a:t>
                      </a:r>
                      <a:endParaRPr sz="1550" dirty="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588010" marR="367030" indent="-208915">
                        <a:lnSpc>
                          <a:spcPct val="104900"/>
                        </a:lnSpc>
                        <a:spcBef>
                          <a:spcPts val="229"/>
                        </a:spcBef>
                      </a:pPr>
                      <a:r>
                        <a:rPr sz="1550" b="1" spc="-10" dirty="0">
                          <a:latin typeface="Calibri"/>
                          <a:cs typeface="Calibri"/>
                        </a:rPr>
                        <a:t>Methodology Adapted</a:t>
                      </a:r>
                      <a:endParaRPr sz="1550" dirty="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25463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dirty="0">
                          <a:latin typeface="Calibri"/>
                          <a:cs typeface="Calibri"/>
                        </a:rPr>
                        <a:t>Key</a:t>
                      </a:r>
                      <a:r>
                        <a:rPr sz="1550" b="1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b="1" spc="-10" dirty="0">
                          <a:latin typeface="Calibri"/>
                          <a:cs typeface="Calibri"/>
                        </a:rPr>
                        <a:t>Findings</a:t>
                      </a:r>
                      <a:endParaRPr sz="1550" dirty="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spc="-20" dirty="0">
                          <a:latin typeface="Calibri"/>
                          <a:cs typeface="Calibri"/>
                        </a:rPr>
                        <a:t>Gaps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68466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1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 Efficient and Robust Approach Using Inductive</a:t>
                      </a:r>
                      <a:b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Transfer-Based Ensemble Deep Neural</a:t>
                      </a:r>
                      <a:b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Networks for Kidney Stone Detection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Jyotismita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Chaki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Ayşegül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Uçar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; Year: 2024; Publisher: IEEE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sng" strike="noStrike" dirty="0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  <a:hlinkClick r:id="rId3"/>
                        </a:rPr>
                        <a:t>https://ieeexplore.ieee.org/document/10445453</a:t>
                      </a:r>
                      <a:endParaRPr lang="en-US" sz="1100" b="0" i="0" u="sng" strike="noStrike" dirty="0">
                        <a:solidFill>
                          <a:srgbClr val="0563C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b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Resizing images to 224×224, RGB normalization, contrast and brightness adjustments, noise reduction, and pixel standardization to enhance model training and performance.</a:t>
                      </a:r>
                      <a:b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Proposed a lightweight model using EfficientNetV2, MobileNetV3, and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ViT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achieving high accuracy with low computational cost.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Existing models are computationally intensive, lack real-time capability, and are unsuitable for deployment on low-resource devices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08698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2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Development of Novel Chronic Kidney Stone and Tumor Detection using Deep Sequential CNN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Siva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Priyanka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S,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Madhuritha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K,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Ashesha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B, Sandeep M; Year: 2025; Publisher: IEEE 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sng" strike="noStrike" dirty="0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  <a:hlinkClick r:id="rId4"/>
                        </a:rPr>
                        <a:t>https://ieeexplore.ieee.org/document/11042363</a:t>
                      </a:r>
                      <a:endParaRPr lang="en-US" sz="1100" b="0" i="0" u="sng" strike="noStrike" dirty="0">
                        <a:solidFill>
                          <a:srgbClr val="0563C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b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Image resizing, normalization, and data augmentation to enhance model robustness and improve classification performance.</a:t>
                      </a:r>
                      <a:b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Proposed a Deep Sequential CNN model with a web interface for classifying kidney CT images, achieving 98.08% accuracy and enabling real-time, user-friendly disease prediction.</a:t>
                      </a:r>
                      <a:b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Existing methods rely heavily on manual interpretation, lack real-time diagnostic support, and often struggle with accuracy and generalizability across varying image qualities.</a:t>
                      </a:r>
                      <a:b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08698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Enhancing Kidney Stone Detection in CT scans with Image Processing and the DCNN-RELM Model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Manjula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Prabakaran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Jesmin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Zakaria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S.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Kannan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Dr.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Santhiya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P, Dr.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Rajasekar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P, Dr. M. V.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Rathnamma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; Year: 2025; Publisher: IEEE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sng" strike="noStrike" dirty="0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  <a:hlinkClick r:id="rId5"/>
                        </a:rPr>
                        <a:t>https://ieeexplore.ieee.org/document/10940943</a:t>
                      </a:r>
                      <a:endParaRPr lang="en-US" sz="1100" b="0" i="0" u="sng" strike="noStrike" dirty="0">
                        <a:solidFill>
                          <a:srgbClr val="0563C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b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Cropping CT images to remove non-critical kidney regions, grayscale conversion, relief embossing to enhance edges, and segmentation using intensity-based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thresholding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to isolate key regions for analysis.</a:t>
                      </a:r>
                      <a:b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Proposed a CNN-RELM model with image processing techniques, achieving 93.87% accuracy for kidney stone detection.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Existing methods struggle with accurate segmentation in complex CT images, require high manual effort, and lack robustness for detecting varying kidney stone shapes and sizes.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48FB203-F319-8127-67FB-D540A49D6231}"/>
              </a:ext>
            </a:extLst>
          </p:cNvPr>
          <p:cNvGraphicFramePr>
            <a:graphicFrameLocks noGrp="1"/>
          </p:cNvGraphicFramePr>
          <p:nvPr/>
        </p:nvGraphicFramePr>
        <p:xfrm>
          <a:off x="917575" y="1730375"/>
          <a:ext cx="10822939" cy="35502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5950">
                  <a:extLst>
                    <a:ext uri="{9D8B030D-6E8A-4147-A177-3AD203B41FA5}">
                      <a16:colId xmlns:a16="http://schemas.microsoft.com/office/drawing/2014/main" val="2032446265"/>
                    </a:ext>
                  </a:extLst>
                </a:gridCol>
                <a:gridCol w="1936115">
                  <a:extLst>
                    <a:ext uri="{9D8B030D-6E8A-4147-A177-3AD203B41FA5}">
                      <a16:colId xmlns:a16="http://schemas.microsoft.com/office/drawing/2014/main" val="1885873727"/>
                    </a:ext>
                  </a:extLst>
                </a:gridCol>
                <a:gridCol w="1619884">
                  <a:extLst>
                    <a:ext uri="{9D8B030D-6E8A-4147-A177-3AD203B41FA5}">
                      <a16:colId xmlns:a16="http://schemas.microsoft.com/office/drawing/2014/main" val="570959921"/>
                    </a:ext>
                  </a:extLst>
                </a:gridCol>
                <a:gridCol w="1671320">
                  <a:extLst>
                    <a:ext uri="{9D8B030D-6E8A-4147-A177-3AD203B41FA5}">
                      <a16:colId xmlns:a16="http://schemas.microsoft.com/office/drawing/2014/main" val="3485194992"/>
                    </a:ext>
                  </a:extLst>
                </a:gridCol>
                <a:gridCol w="1887220">
                  <a:extLst>
                    <a:ext uri="{9D8B030D-6E8A-4147-A177-3AD203B41FA5}">
                      <a16:colId xmlns:a16="http://schemas.microsoft.com/office/drawing/2014/main" val="1411725293"/>
                    </a:ext>
                  </a:extLst>
                </a:gridCol>
                <a:gridCol w="1546225">
                  <a:extLst>
                    <a:ext uri="{9D8B030D-6E8A-4147-A177-3AD203B41FA5}">
                      <a16:colId xmlns:a16="http://schemas.microsoft.com/office/drawing/2014/main" val="568426165"/>
                    </a:ext>
                  </a:extLst>
                </a:gridCol>
                <a:gridCol w="1546225">
                  <a:extLst>
                    <a:ext uri="{9D8B030D-6E8A-4147-A177-3AD203B41FA5}">
                      <a16:colId xmlns:a16="http://schemas.microsoft.com/office/drawing/2014/main" val="3671035859"/>
                    </a:ext>
                  </a:extLst>
                </a:gridCol>
              </a:tblGrid>
              <a:tr h="852806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lang="en-IN" sz="1550" b="1" spc="-25" dirty="0">
                          <a:latin typeface="Calibri"/>
                          <a:cs typeface="Calibri"/>
                        </a:rPr>
                        <a:t>No</a:t>
                      </a:r>
                      <a:endParaRPr sz="1550" dirty="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spc="-10" dirty="0">
                          <a:latin typeface="Calibri"/>
                          <a:cs typeface="Calibri"/>
                        </a:rPr>
                        <a:t>Title</a:t>
                      </a:r>
                      <a:endParaRPr sz="1550" dirty="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514984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spc="-10" dirty="0">
                          <a:latin typeface="Calibri"/>
                          <a:cs typeface="Calibri"/>
                        </a:rPr>
                        <a:t>Author</a:t>
                      </a:r>
                      <a:endParaRPr sz="1550" dirty="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57225" marR="147955" indent="-494665">
                        <a:lnSpc>
                          <a:spcPct val="104900"/>
                        </a:lnSpc>
                        <a:spcBef>
                          <a:spcPts val="229"/>
                        </a:spcBef>
                      </a:pPr>
                      <a:r>
                        <a:rPr sz="1550" b="1" dirty="0">
                          <a:latin typeface="Calibri"/>
                          <a:cs typeface="Calibri"/>
                        </a:rPr>
                        <a:t>Journal</a:t>
                      </a:r>
                      <a:r>
                        <a:rPr sz="1550" b="1" spc="1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b="1" dirty="0">
                          <a:latin typeface="Calibri"/>
                          <a:cs typeface="Calibri"/>
                        </a:rPr>
                        <a:t>Name</a:t>
                      </a:r>
                      <a:r>
                        <a:rPr sz="1550" b="1" spc="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b="1" spc="-50" dirty="0">
                          <a:latin typeface="Calibri"/>
                          <a:cs typeface="Calibri"/>
                        </a:rPr>
                        <a:t>&amp; </a:t>
                      </a:r>
                      <a:r>
                        <a:rPr sz="1550" b="1" spc="-20" dirty="0">
                          <a:latin typeface="Calibri"/>
                          <a:cs typeface="Calibri"/>
                        </a:rPr>
                        <a:t>Year</a:t>
                      </a:r>
                      <a:endParaRPr sz="1550" dirty="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588010" marR="367030" indent="-208915">
                        <a:lnSpc>
                          <a:spcPct val="104900"/>
                        </a:lnSpc>
                        <a:spcBef>
                          <a:spcPts val="229"/>
                        </a:spcBef>
                      </a:pPr>
                      <a:r>
                        <a:rPr sz="1550" b="1" spc="-10" dirty="0">
                          <a:latin typeface="Calibri"/>
                          <a:cs typeface="Calibri"/>
                        </a:rPr>
                        <a:t>Methodology Adapted</a:t>
                      </a:r>
                      <a:endParaRPr sz="1550" dirty="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25463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dirty="0">
                          <a:latin typeface="Calibri"/>
                          <a:cs typeface="Calibri"/>
                        </a:rPr>
                        <a:t>Key</a:t>
                      </a:r>
                      <a:r>
                        <a:rPr sz="1550" b="1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b="1" spc="-10" dirty="0">
                          <a:latin typeface="Calibri"/>
                          <a:cs typeface="Calibri"/>
                        </a:rPr>
                        <a:t>Findings</a:t>
                      </a:r>
                      <a:endParaRPr sz="1550" dirty="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spc="-20" dirty="0">
                          <a:latin typeface="Calibri"/>
                          <a:cs typeface="Calibri"/>
                        </a:rPr>
                        <a:t>Gaps</a:t>
                      </a:r>
                      <a:endParaRPr sz="1550" dirty="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166591"/>
                  </a:ext>
                </a:extLst>
              </a:tr>
              <a:tr h="89408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4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The application of a deep learning method for kidney stone detection by CT scans: A YOLOv8 approach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Prin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Twinprai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; Year: 2024; Publisher: IEEE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sng" strike="noStrike" dirty="0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  <a:hlinkClick r:id="rId2"/>
                        </a:rPr>
                        <a:t>https://ieeexplore.ieee.org/document/10770708</a:t>
                      </a:r>
                      <a:endParaRPr lang="en-US" sz="1100" b="0" i="0" u="sng" strike="noStrike" dirty="0">
                        <a:solidFill>
                          <a:srgbClr val="0563C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Conversion of DICOM to JPEG, image resizing to 640×640 pixels, and manual annotation using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Roboflow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with polygon segmentation.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Proposed YOLOv8-based detection system achieving near-perfect performance (F1 score of 0.99 with YOLOv8x) for automatic kidney stone detection in CT scans.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Model occasionally misclassifies objects with similar density (e.g., gallstones, catheters), and lacks stone composition analysis or treatment prediction.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6541909"/>
                  </a:ext>
                </a:extLst>
              </a:tr>
              <a:tr h="474346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Optimizing Medical Imaging for Early Kidney Stone Detection Using Deep Learning with Comparative Analysis of Model Performance and Diagnostic Accuracy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P.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Mahendran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Santhosh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J, K.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Karuppanasamy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Srikanth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E M, Ameer Sheriff R,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Thiyagavigneshwaran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G; Year: 2025; Publisher: IEEE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sng" strike="noStrike" dirty="0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  <a:hlinkClick r:id="rId3"/>
                        </a:rPr>
                        <a:t>https://ieeexplore.ieee.org/document/11031568</a:t>
                      </a:r>
                      <a:endParaRPr lang="en-US" sz="1100" b="0" i="0" u="sng" strike="noStrike" dirty="0">
                        <a:solidFill>
                          <a:srgbClr val="0563C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Noise reduction, image normalization, contrast enhancement, and data augmentation (e.g., rotation, scaling, flipping) to improve model performance.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Proposed a DNOM-based model for early kidney stone detection using CT images, achieving a peak accuracy of 97.84%, outperforming CNN across multiple training epochs.</a:t>
                      </a:r>
                      <a:b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b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Existing methods rely heavily on manual interpretation, show limited accuracy, and struggle to generalize across varying patient groups and imaging conditions.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9413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8018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188210">
              <a:lnSpc>
                <a:spcPct val="100000"/>
              </a:lnSpc>
              <a:spcBef>
                <a:spcPts val="130"/>
              </a:spcBef>
            </a:pPr>
            <a:r>
              <a:rPr spc="-35" dirty="0"/>
              <a:t>LITERATURE</a:t>
            </a:r>
            <a:r>
              <a:rPr spc="-204" dirty="0"/>
              <a:t> </a:t>
            </a:r>
            <a:r>
              <a:rPr spc="-10" dirty="0"/>
              <a:t>SURVEY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04800" y="1578419"/>
            <a:ext cx="11734799" cy="5426486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Chaki et al., 2024 – Inductive Transfer-Based Ensemble Deep Neural Networks</a:t>
            </a:r>
            <a:br>
              <a:rPr lang="en-US" sz="2400" dirty="0"/>
            </a:br>
            <a:r>
              <a:rPr lang="en-US" sz="2400" dirty="0"/>
              <a:t>Key Finding</a:t>
            </a:r>
            <a:r>
              <a:rPr lang="en-US" sz="2400" b="1" dirty="0"/>
              <a:t>:</a:t>
            </a:r>
            <a:r>
              <a:rPr lang="en-US" sz="2400" dirty="0"/>
              <a:t> Used image resizing (224×224), RGB normalization, contrast and brightness adjustments, noise reduction, and pixel standardization to improve training performance.</a:t>
            </a:r>
            <a:br>
              <a:rPr lang="en-US" sz="2400" dirty="0"/>
            </a:br>
            <a:r>
              <a:rPr lang="en-US" sz="2400" dirty="0"/>
              <a:t>Relation</a:t>
            </a:r>
            <a:r>
              <a:rPr lang="en-US" sz="2400" b="1" dirty="0"/>
              <a:t>:</a:t>
            </a:r>
            <a:r>
              <a:rPr lang="en-US" sz="2400" dirty="0"/>
              <a:t> Inspired our preprocessing pipeline (CLAHE, normalization) for improved image quality and stable model convergence in YOLOv8n-cls.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Priyanka et al., 2025 – Deep Sequential CNN for Kidney Stone and Tumor Detection</a:t>
            </a:r>
            <a:br>
              <a:rPr lang="en-US" sz="2400" dirty="0"/>
            </a:br>
            <a:r>
              <a:rPr lang="en-US" sz="2400" dirty="0"/>
              <a:t>Key Finding</a:t>
            </a:r>
            <a:r>
              <a:rPr lang="en-US" sz="2400" b="1" dirty="0"/>
              <a:t>:</a:t>
            </a:r>
            <a:r>
              <a:rPr lang="en-US" sz="2400" dirty="0"/>
              <a:t> Applied image resizing, normalization, and data augmentation to enhance model robustness and classification performance.</a:t>
            </a:r>
            <a:br>
              <a:rPr lang="en-US" sz="2400" dirty="0"/>
            </a:br>
            <a:r>
              <a:rPr lang="en-US" sz="2400" dirty="0"/>
              <a:t>Relation</a:t>
            </a:r>
            <a:r>
              <a:rPr lang="en-US" sz="2400" b="1" dirty="0"/>
              <a:t>:</a:t>
            </a:r>
            <a:r>
              <a:rPr lang="en-US" sz="2400" dirty="0"/>
              <a:t> Guided our use of data augmentation (rotation, flipping, brightness) to improve generalization and prevent </a:t>
            </a:r>
            <a:r>
              <a:rPr lang="en-US" sz="2400" dirty="0" err="1"/>
              <a:t>overfitting.</a:t>
            </a:r>
            <a:r>
              <a:rPr lang="en-US" sz="2400" b="1" dirty="0" err="1"/>
              <a:t>Wang</a:t>
            </a:r>
            <a:r>
              <a:rPr lang="en-US" sz="2400" b="1" dirty="0"/>
              <a:t> et al., 2019 – Multiscale Block Fusion (YOLO-based)</a:t>
            </a:r>
            <a:endParaRPr lang="en-US" sz="2400" dirty="0"/>
          </a:p>
          <a:p>
            <a:pPr lvl="1"/>
            <a:r>
              <a:rPr lang="en-US" sz="2400" dirty="0"/>
              <a:t>         </a:t>
            </a:r>
            <a:endParaRPr lang="en-US" sz="27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62B36E-C371-B065-E532-6B9ED2E13BFA}"/>
              </a:ext>
            </a:extLst>
          </p:cNvPr>
          <p:cNvSpPr txBox="1"/>
          <p:nvPr/>
        </p:nvSpPr>
        <p:spPr>
          <a:xfrm>
            <a:off x="381000" y="609601"/>
            <a:ext cx="11201400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Prabakaran et al., 2025 – DCNN-RELM Model for CT Image Enhancement</a:t>
            </a:r>
            <a:br>
              <a:rPr lang="en-US" sz="2400" dirty="0"/>
            </a:br>
            <a:r>
              <a:rPr lang="en-US" sz="2400" dirty="0"/>
              <a:t>Key Finding</a:t>
            </a:r>
            <a:r>
              <a:rPr lang="en-US" sz="2400" b="1" dirty="0"/>
              <a:t>:</a:t>
            </a:r>
            <a:r>
              <a:rPr lang="en-US" sz="2400" dirty="0"/>
              <a:t> Performed cropping, grayscale conversion, and relief embossing to enhance edges and segmentation for isolating key regions.</a:t>
            </a:r>
            <a:br>
              <a:rPr lang="en-US" sz="2400" dirty="0"/>
            </a:br>
            <a:r>
              <a:rPr lang="en-US" sz="2400" dirty="0"/>
              <a:t>Relation</a:t>
            </a:r>
            <a:r>
              <a:rPr lang="en-US" sz="2400" b="1" dirty="0"/>
              <a:t>:</a:t>
            </a:r>
            <a:r>
              <a:rPr lang="en-US" sz="2400" dirty="0"/>
              <a:t> Supported our preprocessing stage focusing on contrast enhancement and feature refinement for better region identification.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400" b="1" dirty="0" err="1"/>
              <a:t>Twinprai</a:t>
            </a:r>
            <a:r>
              <a:rPr lang="en-US" sz="2400" b="1" dirty="0"/>
              <a:t>, 2024 – YOLOv8 Approach for Kidney Stone Detection</a:t>
            </a:r>
            <a:br>
              <a:rPr lang="en-US" sz="2400" dirty="0"/>
            </a:br>
            <a:r>
              <a:rPr lang="en-US" sz="2400" dirty="0"/>
              <a:t>Key Finding</a:t>
            </a:r>
            <a:r>
              <a:rPr lang="en-US" sz="2400" b="1" dirty="0"/>
              <a:t>:</a:t>
            </a:r>
            <a:r>
              <a:rPr lang="en-US" sz="2400" dirty="0"/>
              <a:t> Converted DICOM to JPEG, resized images (640×640), and used manual polygon segmentation for accurate object labeling.</a:t>
            </a:r>
            <a:br>
              <a:rPr lang="en-US" sz="2400" dirty="0"/>
            </a:br>
            <a:r>
              <a:rPr lang="en-US" sz="2400" dirty="0"/>
              <a:t>Relation</a:t>
            </a:r>
            <a:r>
              <a:rPr lang="en-US" sz="2400" b="1" dirty="0"/>
              <a:t>:</a:t>
            </a:r>
            <a:r>
              <a:rPr lang="en-US" sz="2400" dirty="0"/>
              <a:t> Provided the base reference for adopting YOLOv8n-cls architecture and dataset preparation techniques in our project.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Mahendran et al., 2025 – Comparative Deep Learning Analysis for Early Detection</a:t>
            </a:r>
            <a:br>
              <a:rPr lang="en-US" sz="2400" dirty="0"/>
            </a:br>
            <a:r>
              <a:rPr lang="en-US" sz="2400" dirty="0"/>
              <a:t>Key Finding</a:t>
            </a:r>
            <a:r>
              <a:rPr lang="en-US" sz="2400" b="1" dirty="0"/>
              <a:t>:</a:t>
            </a:r>
            <a:r>
              <a:rPr lang="en-US" sz="2400" dirty="0"/>
              <a:t> Utilized noise reduction, normalization, contrast enhancement, and augmentation (rotation, scaling, flipping) to optimize model accuracy.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5079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856230">
              <a:lnSpc>
                <a:spcPct val="100000"/>
              </a:lnSpc>
              <a:spcBef>
                <a:spcPts val="130"/>
              </a:spcBef>
            </a:pPr>
            <a:r>
              <a:rPr dirty="0"/>
              <a:t>RESEARCH</a:t>
            </a:r>
            <a:r>
              <a:rPr spc="-140" dirty="0"/>
              <a:t> </a:t>
            </a:r>
            <a:r>
              <a:rPr spc="-20" dirty="0"/>
              <a:t>GAPS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B5D1C297-A28B-325C-FF7D-B7B9BF9EB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5464" y="-5569555"/>
            <a:ext cx="10536936" cy="113808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Many approaches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struggle with low accuracy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due to class imbalance and noisy CT data.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models are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computationally heavy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limiting use in real-time or rural setups.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of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generalization and external validation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across diverse medical datasets.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models focus mainly on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either detection or classification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not both.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4128" y="657635"/>
            <a:ext cx="10101072" cy="942565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027555">
              <a:lnSpc>
                <a:spcPct val="100000"/>
              </a:lnSpc>
              <a:spcBef>
                <a:spcPts val="130"/>
              </a:spcBef>
            </a:pPr>
            <a:r>
              <a:rPr dirty="0"/>
              <a:t>PROBLEM</a:t>
            </a:r>
            <a:r>
              <a:rPr spc="-170" dirty="0"/>
              <a:t> </a:t>
            </a:r>
            <a:r>
              <a:rPr spc="-50" dirty="0"/>
              <a:t>STATEMENT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76A0E6-989C-1EBF-66F7-2FD261FFF84A}"/>
              </a:ext>
            </a:extLst>
          </p:cNvPr>
          <p:cNvSpPr txBox="1"/>
          <p:nvPr/>
        </p:nvSpPr>
        <p:spPr>
          <a:xfrm rot="10800000" flipH="1" flipV="1">
            <a:off x="1447800" y="1905000"/>
            <a:ext cx="1005916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Manual CT image diagnosis is </a:t>
            </a:r>
            <a:r>
              <a:rPr lang="en-US" sz="2400" b="1" dirty="0"/>
              <a:t>slow and error-prone</a:t>
            </a:r>
            <a:r>
              <a:rPr lang="en-U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Accuracy depends heavily on </a:t>
            </a:r>
            <a:r>
              <a:rPr lang="en-US" sz="2400" b="1" dirty="0"/>
              <a:t>radiologist expertise</a:t>
            </a:r>
            <a:r>
              <a:rPr lang="en-U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Existing models show </a:t>
            </a:r>
            <a:r>
              <a:rPr lang="en-US" sz="2400" b="1" dirty="0"/>
              <a:t>low generalization and high computational cost</a:t>
            </a:r>
            <a:r>
              <a:rPr lang="en-U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Lack of </a:t>
            </a:r>
            <a:r>
              <a:rPr lang="en-US" sz="2400" b="1" dirty="0"/>
              <a:t>real-time, lightweight, and deployable</a:t>
            </a:r>
            <a:r>
              <a:rPr lang="en-US" sz="2400" dirty="0"/>
              <a:t> solutions for medical use.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Need for an </a:t>
            </a:r>
            <a:r>
              <a:rPr lang="en-US" sz="2400" b="1" dirty="0"/>
              <a:t>automated system</a:t>
            </a:r>
            <a:r>
              <a:rPr lang="en-US" sz="2400" dirty="0"/>
              <a:t> to classify kidney CT images into </a:t>
            </a:r>
            <a:r>
              <a:rPr lang="en-US" sz="2400" i="1" dirty="0"/>
              <a:t>Normal, Cyst, Stone,</a:t>
            </a:r>
            <a:r>
              <a:rPr lang="en-US" sz="2400" dirty="0"/>
              <a:t> and </a:t>
            </a:r>
            <a:r>
              <a:rPr lang="en-US" sz="2400" i="1" dirty="0"/>
              <a:t>Tumor</a:t>
            </a:r>
            <a:r>
              <a:rPr lang="en-US" sz="2400" dirty="0"/>
              <a:t> categories.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34544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OBJECTIVES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7575" y="1730872"/>
            <a:ext cx="10893425" cy="3465051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80"/>
              </a:spcBef>
              <a:buFont typeface="Arial" panose="020B0604020202020204" pitchFamily="34" charset="0"/>
              <a:buChar char="•"/>
              <a:tabLst>
                <a:tab pos="527050" algn="l"/>
              </a:tabLst>
            </a:pPr>
            <a:r>
              <a:rPr lang="en-US" sz="2400" spc="-10" dirty="0">
                <a:latin typeface="Times New Roman"/>
                <a:cs typeface="Times New Roman"/>
              </a:rPr>
              <a:t>To design a light weight and rotation-aware object detection framework for aerial imagery.</a:t>
            </a:r>
          </a:p>
          <a:p>
            <a:pPr marL="355600" indent="-342900">
              <a:lnSpc>
                <a:spcPct val="100000"/>
              </a:lnSpc>
              <a:spcBef>
                <a:spcPts val="780"/>
              </a:spcBef>
              <a:buFont typeface="Arial" panose="020B0604020202020204" pitchFamily="34" charset="0"/>
              <a:buChar char="•"/>
              <a:tabLst>
                <a:tab pos="527050" algn="l"/>
              </a:tabLst>
            </a:pPr>
            <a:r>
              <a:rPr lang="en-US" sz="2400" spc="-10" dirty="0">
                <a:latin typeface="Times New Roman"/>
                <a:cs typeface="Times New Roman"/>
              </a:rPr>
              <a:t>To enhance YOLOv8 by integrating Oriented Bounding Box (OBB) regression for better localization of rotated objects.</a:t>
            </a:r>
          </a:p>
          <a:p>
            <a:pPr marL="355600" indent="-342900">
              <a:lnSpc>
                <a:spcPct val="100000"/>
              </a:lnSpc>
              <a:spcBef>
                <a:spcPts val="780"/>
              </a:spcBef>
              <a:buFont typeface="Arial" panose="020B0604020202020204" pitchFamily="34" charset="0"/>
              <a:buChar char="•"/>
              <a:tabLst>
                <a:tab pos="527050" algn="l"/>
              </a:tabLst>
            </a:pPr>
            <a:r>
              <a:rPr lang="en-US" sz="2400" spc="-10" dirty="0">
                <a:latin typeface="Times New Roman"/>
                <a:cs typeface="Times New Roman"/>
              </a:rPr>
              <a:t>To apply data preprocessing and augmentation (sharpening, normalization, rotation) for improved detection accuracy.</a:t>
            </a:r>
          </a:p>
          <a:p>
            <a:pPr marL="355600" indent="-342900">
              <a:lnSpc>
                <a:spcPct val="100000"/>
              </a:lnSpc>
              <a:spcBef>
                <a:spcPts val="780"/>
              </a:spcBef>
              <a:buFont typeface="Arial" panose="020B0604020202020204" pitchFamily="34" charset="0"/>
              <a:buChar char="•"/>
              <a:tabLst>
                <a:tab pos="527050" algn="l"/>
              </a:tabLst>
            </a:pPr>
            <a:r>
              <a:rPr lang="en-US" sz="2400" spc="-10" dirty="0">
                <a:latin typeface="Times New Roman"/>
                <a:cs typeface="Times New Roman"/>
              </a:rPr>
              <a:t>To train and evaluate the model on the DOTA v2.0 dataset for real-world performance.</a:t>
            </a:r>
          </a:p>
          <a:p>
            <a:pPr marL="355600" indent="-342900">
              <a:lnSpc>
                <a:spcPct val="100000"/>
              </a:lnSpc>
              <a:spcBef>
                <a:spcPts val="780"/>
              </a:spcBef>
              <a:buFont typeface="Arial" panose="020B0604020202020204" pitchFamily="34" charset="0"/>
              <a:buChar char="•"/>
              <a:tabLst>
                <a:tab pos="527050" algn="l"/>
              </a:tabLst>
            </a:pPr>
            <a:r>
              <a:rPr lang="en-US" sz="2400" spc="-10" dirty="0">
                <a:latin typeface="Times New Roman"/>
                <a:cs typeface="Times New Roman"/>
              </a:rPr>
              <a:t>To optimize the model for edge and UAV deployment with minimal resource usage.</a:t>
            </a:r>
            <a:endParaRPr lang="en-US"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9720" rIns="0" bIns="0" rtlCol="0">
            <a:spAutoFit/>
          </a:bodyPr>
          <a:lstStyle/>
          <a:p>
            <a:pPr marL="360045">
              <a:lnSpc>
                <a:spcPct val="100000"/>
              </a:lnSpc>
              <a:spcBef>
                <a:spcPts val="130"/>
              </a:spcBef>
            </a:pPr>
            <a:r>
              <a:rPr sz="3950" dirty="0"/>
              <a:t>BLOCK</a:t>
            </a:r>
            <a:r>
              <a:rPr sz="3950" spc="60" dirty="0"/>
              <a:t> </a:t>
            </a:r>
            <a:r>
              <a:rPr sz="3950" dirty="0"/>
              <a:t>DIAGRAM</a:t>
            </a:r>
            <a:r>
              <a:rPr sz="3950" spc="90" dirty="0"/>
              <a:t> </a:t>
            </a:r>
            <a:r>
              <a:rPr sz="3950" dirty="0"/>
              <a:t>OR</a:t>
            </a:r>
            <a:r>
              <a:rPr sz="3950" spc="70" dirty="0"/>
              <a:t> </a:t>
            </a:r>
            <a:r>
              <a:rPr sz="3950" dirty="0"/>
              <a:t>FLOW</a:t>
            </a:r>
            <a:r>
              <a:rPr sz="3950" spc="-60" dirty="0"/>
              <a:t> </a:t>
            </a:r>
            <a:r>
              <a:rPr sz="3950" spc="-10" dirty="0"/>
              <a:t>DIAGRAM</a:t>
            </a:r>
            <a:endParaRPr sz="395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3A7A584-3063-6AE6-310B-F94ABAF588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19200"/>
            <a:ext cx="11963400" cy="429338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910205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METHODOLOGY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2209800" y="1600200"/>
            <a:ext cx="9283065" cy="3872342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290195" indent="-229235">
              <a:lnSpc>
                <a:spcPts val="300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IN" sz="2000" b="1" dirty="0"/>
              <a:t>Dataset:</a:t>
            </a:r>
            <a:r>
              <a:rPr lang="en-IN" sz="2000" dirty="0"/>
              <a:t> Kidney CT Scan Dataset (9,955 images across 4 classes — Normal, Cyst, Stone, </a:t>
            </a:r>
            <a:r>
              <a:rPr lang="en-IN" sz="2000" dirty="0" err="1"/>
              <a:t>Tumor</a:t>
            </a:r>
            <a:r>
              <a:rPr lang="en-IN" sz="2000" dirty="0"/>
              <a:t>).</a:t>
            </a:r>
            <a:br>
              <a:rPr lang="en-IN" sz="2000" dirty="0"/>
            </a:br>
            <a:r>
              <a:rPr lang="en-IN" sz="2000" b="1" dirty="0"/>
              <a:t>Preprocessing:</a:t>
            </a:r>
            <a:r>
              <a:rPr lang="en-IN" sz="2000" dirty="0"/>
              <a:t> Grayscale conversion, CLAHE contrast enhancement, Gaussian denoising, and resizing to 224×224.</a:t>
            </a:r>
            <a:br>
              <a:rPr lang="en-IN" sz="2000" dirty="0"/>
            </a:br>
            <a:r>
              <a:rPr lang="en-IN" sz="2000" b="1" dirty="0"/>
              <a:t>Augmentation:</a:t>
            </a:r>
            <a:r>
              <a:rPr lang="en-IN" sz="2000" dirty="0"/>
              <a:t> Rotation, flip, zoom, and brightness adjustments for class balance.</a:t>
            </a:r>
            <a:br>
              <a:rPr lang="en-IN" sz="2000" dirty="0"/>
            </a:br>
            <a:r>
              <a:rPr lang="en-IN" sz="2000" b="1" dirty="0"/>
              <a:t>Framework:</a:t>
            </a:r>
            <a:r>
              <a:rPr lang="en-IN" sz="2000" dirty="0"/>
              <a:t> YOLOv8n-cls used for multi-class kidney CT image classification with transfer learning.</a:t>
            </a:r>
            <a:br>
              <a:rPr lang="en-IN" sz="2000" dirty="0"/>
            </a:br>
            <a:r>
              <a:rPr lang="en-IN" sz="2000" b="1" dirty="0"/>
              <a:t>Tools:</a:t>
            </a:r>
            <a:r>
              <a:rPr lang="en-IN" sz="2000" dirty="0"/>
              <a:t> Python, </a:t>
            </a:r>
            <a:r>
              <a:rPr lang="en-IN" sz="2000" dirty="0" err="1"/>
              <a:t>PyTorch</a:t>
            </a:r>
            <a:r>
              <a:rPr lang="en-IN" sz="2000" dirty="0"/>
              <a:t>, OpenCV, </a:t>
            </a:r>
            <a:r>
              <a:rPr lang="en-IN" sz="2000" dirty="0" err="1"/>
              <a:t>Ultralytics</a:t>
            </a:r>
            <a:r>
              <a:rPr lang="en-IN" sz="2000" dirty="0"/>
              <a:t> YOLOv8, NumPy, Matplotlib (CPU-based training).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9DDF4-C185-1EC1-7907-E5750E2E9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181164E-8A1D-240E-3393-A4D98B9D55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45463" y="283463"/>
            <a:ext cx="10101072" cy="5682324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910205">
              <a:lnSpc>
                <a:spcPct val="100000"/>
              </a:lnSpc>
              <a:spcBef>
                <a:spcPts val="130"/>
              </a:spcBef>
            </a:pPr>
            <a:r>
              <a:rPr lang="en-US" spc="-10" dirty="0"/>
              <a:t>Sample Dataset images</a:t>
            </a:r>
            <a:br>
              <a:rPr lang="en-US" spc="-10" dirty="0"/>
            </a:br>
            <a:br>
              <a:rPr lang="en-IN" spc="-10" dirty="0"/>
            </a:br>
            <a:br>
              <a:rPr lang="en-IN" spc="-10" dirty="0"/>
            </a:br>
            <a:br>
              <a:rPr lang="en-IN" spc="-10" dirty="0"/>
            </a:br>
            <a:br>
              <a:rPr lang="en-IN" spc="-10" dirty="0"/>
            </a:br>
            <a:br>
              <a:rPr lang="en-IN" spc="-10" dirty="0"/>
            </a:br>
            <a:br>
              <a:rPr lang="en-IN" spc="-10" dirty="0"/>
            </a:br>
            <a:endParaRPr spc="-1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81730ED-17B6-B787-82AD-4FE4D97FBB81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0E45946C-8F6F-9201-A851-76510536D513}"/>
              </a:ext>
            </a:extLst>
          </p:cNvPr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0ECA2BAC-319B-7343-20C1-94553E71B839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5CD07FCE-CF80-5A20-DA06-DAEB80D94DF3}"/>
              </a:ext>
            </a:extLst>
          </p:cNvPr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38CD4FD1-B97B-432E-0EE4-CF758D32841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FBD809F-37B7-5589-023D-940CE39FB8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1524000"/>
            <a:ext cx="8763000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8909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3108F94-AC45-A5F7-5391-86ADE550D0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4914994"/>
              </p:ext>
            </p:extLst>
          </p:nvPr>
        </p:nvGraphicFramePr>
        <p:xfrm>
          <a:off x="609600" y="1350105"/>
          <a:ext cx="3048000" cy="4157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7136">
                  <a:extLst>
                    <a:ext uri="{9D8B030D-6E8A-4147-A177-3AD203B41FA5}">
                      <a16:colId xmlns:a16="http://schemas.microsoft.com/office/drawing/2014/main" val="4147655049"/>
                    </a:ext>
                  </a:extLst>
                </a:gridCol>
                <a:gridCol w="2060864">
                  <a:extLst>
                    <a:ext uri="{9D8B030D-6E8A-4147-A177-3AD203B41FA5}">
                      <a16:colId xmlns:a16="http://schemas.microsoft.com/office/drawing/2014/main" val="3395406261"/>
                    </a:ext>
                  </a:extLst>
                </a:gridCol>
              </a:tblGrid>
              <a:tr h="648678">
                <a:tc>
                  <a:txBody>
                    <a:bodyPr/>
                    <a:lstStyle/>
                    <a:p>
                      <a:r>
                        <a:rPr lang="en-IN" dirty="0"/>
                        <a:t>          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9822293"/>
                  </a:ext>
                </a:extLst>
              </a:tr>
              <a:tr h="648678">
                <a:tc>
                  <a:txBody>
                    <a:bodyPr/>
                    <a:lstStyle/>
                    <a:p>
                      <a:r>
                        <a:rPr lang="en-IN" dirty="0"/>
                        <a:t>Epochs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612775"/>
                  </a:ext>
                </a:extLst>
              </a:tr>
              <a:tr h="648678">
                <a:tc>
                  <a:txBody>
                    <a:bodyPr/>
                    <a:lstStyle/>
                    <a:p>
                      <a:r>
                        <a:rPr lang="en-IN" dirty="0"/>
                        <a:t>Batch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4232963"/>
                  </a:ext>
                </a:extLst>
              </a:tr>
              <a:tr h="648678">
                <a:tc>
                  <a:txBody>
                    <a:bodyPr/>
                    <a:lstStyle/>
                    <a:p>
                      <a:r>
                        <a:rPr lang="en-IN" dirty="0"/>
                        <a:t>Image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224*224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772715"/>
                  </a:ext>
                </a:extLst>
              </a:tr>
              <a:tr h="648678">
                <a:tc>
                  <a:txBody>
                    <a:bodyPr/>
                    <a:lstStyle/>
                    <a:p>
                      <a:r>
                        <a:rPr lang="en-IN" dirty="0"/>
                        <a:t>Optimizer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r>
                        <a:rPr lang="en-IN" dirty="0" err="1"/>
                        <a:t>damW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5634899"/>
                  </a:ext>
                </a:extLst>
              </a:tr>
              <a:tr h="648678">
                <a:tc>
                  <a:txBody>
                    <a:bodyPr/>
                    <a:lstStyle/>
                    <a:p>
                      <a:r>
                        <a:rPr lang="en-IN" dirty="0"/>
                        <a:t>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r>
                        <a:rPr lang="en-IN" dirty="0" err="1"/>
                        <a:t>rossEntropyLoss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1279779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159FE071-4B9F-8DA4-9E01-AEDF0B32C3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0" y="1284938"/>
            <a:ext cx="5919326" cy="4200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1660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595880">
              <a:lnSpc>
                <a:spcPct val="100000"/>
              </a:lnSpc>
              <a:spcBef>
                <a:spcPts val="130"/>
              </a:spcBef>
            </a:pPr>
            <a:r>
              <a:rPr spc="-45" dirty="0"/>
              <a:t>IMPLEMENTATION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3E1A30-BAA1-AA8D-1B57-3CD97DD1336F}"/>
              </a:ext>
            </a:extLst>
          </p:cNvPr>
          <p:cNvSpPr txBox="1"/>
          <p:nvPr/>
        </p:nvSpPr>
        <p:spPr>
          <a:xfrm>
            <a:off x="1371600" y="1582341"/>
            <a:ext cx="9733026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Software Used:</a:t>
            </a:r>
            <a:r>
              <a:rPr lang="en-IN" sz="2000" dirty="0"/>
              <a:t> Python, </a:t>
            </a:r>
            <a:r>
              <a:rPr lang="en-IN" sz="2000" dirty="0" err="1"/>
              <a:t>Ultralytics</a:t>
            </a:r>
            <a:r>
              <a:rPr lang="en-IN" sz="2000" dirty="0"/>
              <a:t> YOLOv8, OpenCV, NumPy, Matplotlib, </a:t>
            </a:r>
            <a:r>
              <a:rPr lang="en-IN" sz="2000" dirty="0" err="1"/>
              <a:t>PyTorch</a:t>
            </a:r>
            <a:r>
              <a:rPr lang="en-IN" sz="2000" dirty="0"/>
              <a:t>.</a:t>
            </a:r>
            <a:br>
              <a:rPr lang="en-IN" sz="2000" dirty="0"/>
            </a:br>
            <a:r>
              <a:rPr lang="en-IN" sz="2000" b="1" dirty="0"/>
              <a:t>Hardware Used:</a:t>
            </a:r>
            <a:r>
              <a:rPr lang="en-IN" sz="2000" dirty="0"/>
              <a:t> Intel® Core™ i5 Processor, 8 GB RAM, Windows 10 (CPU-based training).</a:t>
            </a:r>
            <a:br>
              <a:rPr lang="en-IN" sz="2000" dirty="0"/>
            </a:br>
            <a:r>
              <a:rPr lang="en-IN" sz="2000" b="1" dirty="0"/>
              <a:t>Dataset:</a:t>
            </a:r>
            <a:r>
              <a:rPr lang="en-IN" sz="2000" dirty="0"/>
              <a:t> Kidney CT Scan Dataset (9,955 images – 4 classes: Normal, Cyst, Stone, </a:t>
            </a:r>
            <a:r>
              <a:rPr lang="en-IN" sz="2000" dirty="0" err="1"/>
              <a:t>Tumor</a:t>
            </a:r>
            <a:r>
              <a:rPr lang="en-IN" sz="2000" dirty="0"/>
              <a:t>).</a:t>
            </a:r>
            <a:br>
              <a:rPr lang="en-IN" sz="2000" dirty="0"/>
            </a:br>
            <a:r>
              <a:rPr lang="en-IN" sz="2000" b="1" dirty="0"/>
              <a:t>Training Setup:</a:t>
            </a:r>
            <a:r>
              <a:rPr lang="en-IN" sz="2000" dirty="0"/>
              <a:t> 10 epochs, batch size 16, image size 224×224, </a:t>
            </a:r>
            <a:r>
              <a:rPr lang="en-IN" sz="2000" dirty="0" err="1"/>
              <a:t>AdamW</a:t>
            </a:r>
            <a:r>
              <a:rPr lang="en-IN" sz="2000" dirty="0"/>
              <a:t> optimizer.</a:t>
            </a:r>
            <a:br>
              <a:rPr lang="en-IN" sz="2000" dirty="0"/>
            </a:br>
            <a:r>
              <a:rPr lang="en-IN" sz="2000" b="1" dirty="0"/>
              <a:t>Output:</a:t>
            </a:r>
            <a:r>
              <a:rPr lang="en-IN" sz="2000" dirty="0"/>
              <a:t> Lightweight YOLOv8n-cls model for automated kidney disease classification with 96.88% accuracy.</a:t>
            </a:r>
            <a:br>
              <a:rPr lang="en-IN" sz="2000" dirty="0"/>
            </a:br>
            <a:r>
              <a:rPr lang="en-IN" sz="2000" b="1" dirty="0"/>
              <a:t>Challenges Faced:</a:t>
            </a:r>
            <a:endParaRPr lang="en-IN" sz="2000" dirty="0"/>
          </a:p>
          <a:p>
            <a:r>
              <a:rPr lang="en-IN" sz="2000" dirty="0"/>
              <a:t>Class imbalance — handled using data augmentation and balanced sampling.</a:t>
            </a:r>
          </a:p>
          <a:p>
            <a:r>
              <a:rPr lang="en-IN" sz="2000" dirty="0"/>
              <a:t>Noisy and low-contrast CT images — resolved through CLAHE and Gaussian denoising.</a:t>
            </a:r>
          </a:p>
          <a:p>
            <a:r>
              <a:rPr lang="en-IN" sz="2000" dirty="0"/>
              <a:t>Limited hardware — optimized batch loading and CPU efficiency for smooth training.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23139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R</a:t>
            </a:r>
            <a:r>
              <a:rPr spc="75" dirty="0"/>
              <a:t>E</a:t>
            </a:r>
            <a:r>
              <a:rPr spc="-30" dirty="0"/>
              <a:t>S</a:t>
            </a:r>
            <a:r>
              <a:rPr spc="60" dirty="0"/>
              <a:t>U</a:t>
            </a:r>
            <a:r>
              <a:rPr spc="-445" dirty="0"/>
              <a:t>L</a:t>
            </a:r>
            <a:r>
              <a:rPr spc="5" dirty="0"/>
              <a:t>T</a:t>
            </a:r>
            <a:r>
              <a:rPr spc="35" dirty="0"/>
              <a:t>S</a:t>
            </a:r>
            <a:r>
              <a:rPr spc="-215" dirty="0"/>
              <a:t> </a:t>
            </a:r>
            <a:r>
              <a:rPr dirty="0"/>
              <a:t>&amp;</a:t>
            </a:r>
            <a:r>
              <a:rPr spc="-285" dirty="0"/>
              <a:t> </a:t>
            </a:r>
            <a:r>
              <a:rPr spc="-25" dirty="0"/>
              <a:t>ANALYSIS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942163-D217-A963-E6A7-FBFF508A26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463" y="1503133"/>
            <a:ext cx="4419600" cy="2387920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69C732F-0932-7123-8B9A-45865327FE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2298985"/>
              </p:ext>
            </p:extLst>
          </p:nvPr>
        </p:nvGraphicFramePr>
        <p:xfrm>
          <a:off x="5612986" y="1483468"/>
          <a:ext cx="4293013" cy="22918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2198">
                  <a:extLst>
                    <a:ext uri="{9D8B030D-6E8A-4147-A177-3AD203B41FA5}">
                      <a16:colId xmlns:a16="http://schemas.microsoft.com/office/drawing/2014/main" val="1504589966"/>
                    </a:ext>
                  </a:extLst>
                </a:gridCol>
                <a:gridCol w="2130815">
                  <a:extLst>
                    <a:ext uri="{9D8B030D-6E8A-4147-A177-3AD203B41FA5}">
                      <a16:colId xmlns:a16="http://schemas.microsoft.com/office/drawing/2014/main" val="2943866507"/>
                    </a:ext>
                  </a:extLst>
                </a:gridCol>
              </a:tblGrid>
              <a:tr h="448929">
                <a:tc>
                  <a:txBody>
                    <a:bodyPr/>
                    <a:lstStyle/>
                    <a:p>
                      <a:r>
                        <a:rPr lang="en-IN"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85992"/>
                  </a:ext>
                </a:extLst>
              </a:tr>
              <a:tr h="496119">
                <a:tc>
                  <a:txBody>
                    <a:bodyPr/>
                    <a:lstStyle/>
                    <a:p>
                      <a:r>
                        <a:rPr lang="en-IN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96.10%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8884588"/>
                  </a:ext>
                </a:extLst>
              </a:tr>
              <a:tr h="448929">
                <a:tc>
                  <a:txBody>
                    <a:bodyPr/>
                    <a:lstStyle/>
                    <a:p>
                      <a:r>
                        <a:rPr lang="en-IN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95.90%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7266916"/>
                  </a:ext>
                </a:extLst>
              </a:tr>
              <a:tr h="448929"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  <a:r>
                        <a:rPr lang="en-IN" dirty="0"/>
                        <a:t>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96.00%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8625640"/>
                  </a:ext>
                </a:extLst>
              </a:tr>
              <a:tr h="448929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r>
                        <a:rPr lang="en-IN" dirty="0" err="1"/>
                        <a:t>ccuracy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96.8%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747833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D8EBD162-96C6-E5B7-8AFC-DAC023A42902}"/>
              </a:ext>
            </a:extLst>
          </p:cNvPr>
          <p:cNvSpPr txBox="1"/>
          <p:nvPr/>
        </p:nvSpPr>
        <p:spPr>
          <a:xfrm>
            <a:off x="1219198" y="4191001"/>
            <a:ext cx="982980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Model achieved high precision and recall, showing strong detection accuracy.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Training curves show steady loss reduction and good model convergence.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Rotation-aware OBB improved detection of tilted objects like ships and airplanes.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Maintains real-time inference speed (&gt;30 FPS) and compact model size (&lt;10 MB).</a:t>
            </a:r>
            <a:endParaRPr lang="en-IN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DE1657-9F52-5444-670D-3856A2DAFB3D}"/>
              </a:ext>
            </a:extLst>
          </p:cNvPr>
          <p:cNvSpPr txBox="1"/>
          <p:nvPr/>
        </p:nvSpPr>
        <p:spPr>
          <a:xfrm>
            <a:off x="6096000" y="1066800"/>
            <a:ext cx="5715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 Supporting Visuals</a:t>
            </a:r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303926-5644-ACCA-A5B5-8C308BEA0EB8}"/>
              </a:ext>
            </a:extLst>
          </p:cNvPr>
          <p:cNvSpPr txBox="1"/>
          <p:nvPr/>
        </p:nvSpPr>
        <p:spPr>
          <a:xfrm>
            <a:off x="1447800" y="3657600"/>
            <a:ext cx="92964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000" dirty="0"/>
          </a:p>
          <a:p>
            <a:r>
              <a:rPr lang="en-US" sz="2000" dirty="0"/>
              <a:t>Insights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Despite class imbalance, the model generalizes well.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Most accurate on larger, distinct objects (airports, ships).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Slightly lower accuracy on small or overlapping objects (vehicles, bridges) due to limited samples.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Confirms </a:t>
            </a:r>
            <a:r>
              <a:rPr lang="en-US" sz="2000" dirty="0" err="1"/>
              <a:t>EdgeYOLO</a:t>
            </a:r>
            <a:r>
              <a:rPr lang="en-US" sz="2000" dirty="0"/>
              <a:t>-RS is effective for aerial and remote sensing applications.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EFFC81-BB0D-44CB-3535-F37194A646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865" y="885380"/>
            <a:ext cx="4944335" cy="2971800"/>
          </a:xfrm>
          <a:prstGeom prst="rect">
            <a:avLst/>
          </a:prstGeom>
        </p:spPr>
      </p:pic>
      <p:sp>
        <p:nvSpPr>
          <p:cNvPr id="10" name="Rectangle 4">
            <a:extLst>
              <a:ext uri="{FF2B5EF4-FFF2-40B4-BE49-F238E27FC236}">
                <a16:creationId xmlns:a16="http://schemas.microsoft.com/office/drawing/2014/main" id="{D3F52004-C20C-ABA9-C326-4C6C3CE0CE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0"/>
            <a:ext cx="586740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Accuracy–Loss Curve: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shows steady improvement.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Confusion Matrix: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high accuracy across all four classes.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Sample Outputs: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correctly labeled CT scans with confidence scores.</a:t>
            </a:r>
          </a:p>
        </p:txBody>
      </p:sp>
    </p:spTree>
    <p:extLst>
      <p:ext uri="{BB962C8B-B14F-4D97-AF65-F5344CB8AC3E}">
        <p14:creationId xmlns:p14="http://schemas.microsoft.com/office/powerpoint/2010/main" val="29081866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588010">
              <a:lnSpc>
                <a:spcPct val="100000"/>
              </a:lnSpc>
              <a:spcBef>
                <a:spcPts val="130"/>
              </a:spcBef>
            </a:pPr>
            <a:r>
              <a:rPr dirty="0"/>
              <a:t>CONCLUSION</a:t>
            </a:r>
            <a:r>
              <a:rPr spc="-140" dirty="0"/>
              <a:t> </a:t>
            </a:r>
            <a:r>
              <a:rPr dirty="0"/>
              <a:t>and</a:t>
            </a:r>
            <a:r>
              <a:rPr spc="-85" dirty="0"/>
              <a:t> </a:t>
            </a:r>
            <a:r>
              <a:rPr dirty="0"/>
              <a:t>FUTURE</a:t>
            </a:r>
            <a:r>
              <a:rPr spc="-120" dirty="0"/>
              <a:t> </a:t>
            </a:r>
            <a:r>
              <a:rPr spc="-10" dirty="0"/>
              <a:t>SCOPE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8D5D31-1B0D-C29C-7399-F0BDFDADE327}"/>
              </a:ext>
            </a:extLst>
          </p:cNvPr>
          <p:cNvSpPr txBox="1"/>
          <p:nvPr/>
        </p:nvSpPr>
        <p:spPr>
          <a:xfrm>
            <a:off x="1045463" y="1295400"/>
            <a:ext cx="102870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Conclusion: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Developed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YOLOv8n-cls–based framework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automated kidney CT image classification.</a:t>
            </a:r>
            <a:endParaRPr lang="en-IN" sz="2400" dirty="0"/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Achieved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96.88% accuracy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across four classes: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Normal, Cyst, Stone,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Tumor.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The model proved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lightweight, fast, and reliable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suitable for real-time        medical diagnosis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IN" sz="2400" dirty="0"/>
          </a:p>
          <a:p>
            <a:r>
              <a:rPr lang="en-IN" sz="2400" dirty="0"/>
              <a:t>Future Scope: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Validate on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multi-center real-world datasets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broader generalization.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K-Fold Cross-Validation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improve robustness and stability.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Optimize for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 and edge devices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enable rural healthcare use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     </a:t>
            </a:r>
          </a:p>
          <a:p>
            <a:endParaRPr lang="en-IN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3345815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REFERENCES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B6AA6A-2EB7-CEB6-B408-0434CE5AF2AD}"/>
              </a:ext>
            </a:extLst>
          </p:cNvPr>
          <p:cNvSpPr txBox="1"/>
          <p:nvPr/>
        </p:nvSpPr>
        <p:spPr>
          <a:xfrm>
            <a:off x="1045463" y="1443841"/>
            <a:ext cx="10275063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[1] S. D. Pande and R. Agarwal, “Multi-class Kidney Abnormalities Detecting Novel System through Computed Tomography,” </a:t>
            </a:r>
            <a:r>
              <a:rPr lang="en-IN" sz="2000" i="1" dirty="0"/>
              <a:t>IEEE Access</a:t>
            </a:r>
            <a:r>
              <a:rPr lang="en-IN" sz="2000" dirty="0"/>
              <a:t>, vol. 12, 2024.</a:t>
            </a:r>
          </a:p>
          <a:p>
            <a:r>
              <a:rPr lang="en-IN" sz="2000" dirty="0"/>
              <a:t>[2] W. O. Falana, A. Serener, S. N. Tackie, and F. A. Ayodeji,</a:t>
            </a:r>
            <a:br>
              <a:rPr lang="en-IN" sz="2000" dirty="0"/>
            </a:br>
            <a:r>
              <a:rPr lang="en-IN" sz="2000" dirty="0"/>
              <a:t>“Deep Learning–Based Image Preprocessing and Classification for Kidney Disease Detection in CT Scans,” </a:t>
            </a:r>
            <a:r>
              <a:rPr lang="en-IN" sz="2000" i="1" dirty="0"/>
              <a:t>Proc. 7th Int. Conf. on Human-Computer Interaction, Optimization and Robotic Applications (ICHORA)</a:t>
            </a:r>
            <a:r>
              <a:rPr lang="en-IN" sz="2000" dirty="0"/>
              <a:t>, 2025.</a:t>
            </a:r>
          </a:p>
          <a:p>
            <a:r>
              <a:rPr lang="en-IN" sz="2000" dirty="0"/>
              <a:t>[3] A. S. Sivaprakasam, R. D, M. S. Kumar, and S. P. Pandi,</a:t>
            </a:r>
            <a:br>
              <a:rPr lang="en-IN" sz="2000" dirty="0"/>
            </a:br>
            <a:r>
              <a:rPr lang="en-IN" sz="2000" dirty="0"/>
              <a:t>“YOLOv8 Kidney Guard: Smart Imaging for Stone Detection Using Deep Learning,” </a:t>
            </a:r>
            <a:r>
              <a:rPr lang="en-IN" sz="2000" i="1" dirty="0"/>
              <a:t>Proc. 2nd Int. Conf. on Advances in Information Technology (ICAIT)</a:t>
            </a:r>
            <a:r>
              <a:rPr lang="en-IN" sz="2000" dirty="0"/>
              <a:t>, 2024.</a:t>
            </a:r>
          </a:p>
          <a:p>
            <a:r>
              <a:rPr lang="en-IN" sz="2000" dirty="0"/>
              <a:t>[4] P. Mahendran, J. Santhosh, K. </a:t>
            </a:r>
            <a:r>
              <a:rPr lang="en-IN" sz="2000" dirty="0" err="1"/>
              <a:t>Karuppanasamy</a:t>
            </a:r>
            <a:r>
              <a:rPr lang="en-IN" sz="2000" dirty="0"/>
              <a:t>, E. M. Srikanth, A. S. R. Sheriff, and G. </a:t>
            </a:r>
            <a:r>
              <a:rPr lang="en-IN" sz="2000" dirty="0" err="1"/>
              <a:t>Thiyagavigneshwaran</a:t>
            </a:r>
            <a:r>
              <a:rPr lang="en-IN" sz="2000" dirty="0"/>
              <a:t>,</a:t>
            </a:r>
            <a:br>
              <a:rPr lang="en-IN" sz="2000" dirty="0"/>
            </a:br>
            <a:r>
              <a:rPr lang="en-IN" sz="2000" dirty="0"/>
              <a:t>“Optimizing Medical Imaging for Early Kidney Stone Detection Using Deep Learning,” </a:t>
            </a:r>
            <a:r>
              <a:rPr lang="en-IN" sz="2000" i="1" dirty="0"/>
              <a:t>Proc. Int. Conf. on Frontier Technologies and Solutions (ICFTS)</a:t>
            </a:r>
            <a:r>
              <a:rPr lang="en-IN" sz="2000" dirty="0"/>
              <a:t>, 2025.</a:t>
            </a:r>
          </a:p>
          <a:p>
            <a:pPr marL="457200" indent="-457200">
              <a:buFont typeface="+mj-lt"/>
              <a:buAutoNum type="arabicPeriod"/>
            </a:pPr>
            <a:endParaRPr lang="en-IN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EF496-5F6F-464E-E557-5492AE448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2ACAB2-8BD8-29EF-8D21-9D48C9B08DC8}"/>
              </a:ext>
            </a:extLst>
          </p:cNvPr>
          <p:cNvSpPr txBox="1"/>
          <p:nvPr/>
        </p:nvSpPr>
        <p:spPr>
          <a:xfrm>
            <a:off x="990600" y="1166843"/>
            <a:ext cx="10439400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[5] P. </a:t>
            </a:r>
            <a:r>
              <a:rPr lang="en-IN" sz="2000" dirty="0" err="1"/>
              <a:t>Twinprai</a:t>
            </a:r>
            <a:r>
              <a:rPr lang="en-IN" sz="2000" dirty="0"/>
              <a:t>,</a:t>
            </a:r>
            <a:br>
              <a:rPr lang="en-IN" sz="2000" dirty="0"/>
            </a:br>
            <a:r>
              <a:rPr lang="en-IN" sz="2000" dirty="0"/>
              <a:t>“The Application of a Deep Learning Method for Kidney Stone Detection by CT Scans: A YOLOv8 Approach,” </a:t>
            </a:r>
            <a:r>
              <a:rPr lang="en-IN" sz="2000" i="1" dirty="0"/>
              <a:t>Proc. 28th Int. Computer Science and Engineering Conf. (ICSEC)</a:t>
            </a:r>
            <a:r>
              <a:rPr lang="en-IN" sz="2000" dirty="0"/>
              <a:t>, 2024.</a:t>
            </a:r>
          </a:p>
          <a:p>
            <a:r>
              <a:rPr lang="en-IN" sz="2000" dirty="0"/>
              <a:t>[6] S. S. Priyanka, K. </a:t>
            </a:r>
            <a:r>
              <a:rPr lang="en-IN" sz="2000" dirty="0" err="1"/>
              <a:t>Madhuritha</a:t>
            </a:r>
            <a:r>
              <a:rPr lang="en-IN" sz="2000" dirty="0"/>
              <a:t>, B. Ashesha, and M. Sandeep,</a:t>
            </a:r>
            <a:br>
              <a:rPr lang="en-IN" sz="2000" dirty="0"/>
            </a:br>
            <a:r>
              <a:rPr lang="en-IN" sz="2000" dirty="0"/>
              <a:t>“Development of Novel Chronic Kidney Stone and </a:t>
            </a:r>
            <a:r>
              <a:rPr lang="en-IN" sz="2000" dirty="0" err="1"/>
              <a:t>Tumor</a:t>
            </a:r>
            <a:r>
              <a:rPr lang="en-IN" sz="2000" dirty="0"/>
              <a:t> Detection Using Deep Sequential CNN,” </a:t>
            </a:r>
            <a:r>
              <a:rPr lang="en-IN" sz="2000" i="1" dirty="0"/>
              <a:t>Proc. 2nd Int. Conf. on Trends in Engineering Systems and Technologies (ICTEST)</a:t>
            </a:r>
            <a:r>
              <a:rPr lang="en-IN" sz="2000" dirty="0"/>
              <a:t>, 2025.</a:t>
            </a:r>
          </a:p>
          <a:p>
            <a:r>
              <a:rPr lang="en-IN" sz="2000" dirty="0"/>
              <a:t>[7] M. Tan and Q. Le,</a:t>
            </a:r>
            <a:br>
              <a:rPr lang="en-IN" sz="2000" dirty="0"/>
            </a:br>
            <a:r>
              <a:rPr lang="en-IN" sz="2000" dirty="0"/>
              <a:t>“EfficientNetV2: Smaller Models and Faster Training,” </a:t>
            </a:r>
            <a:r>
              <a:rPr lang="en-IN" sz="2000" i="1" dirty="0"/>
              <a:t>Proc. Int. Conf. on Machine Learning (ICML)</a:t>
            </a:r>
            <a:r>
              <a:rPr lang="en-IN" sz="2000" dirty="0"/>
              <a:t>, PMLR, 2021.</a:t>
            </a:r>
          </a:p>
          <a:p>
            <a:r>
              <a:rPr lang="en-IN" sz="2000" dirty="0"/>
              <a:t>[9] K. Sharma, Z. Uddin, and D. Gupta,</a:t>
            </a:r>
            <a:br>
              <a:rPr lang="en-IN" sz="2000" dirty="0"/>
            </a:br>
            <a:r>
              <a:rPr lang="en-IN" sz="2000" dirty="0"/>
              <a:t>“Hybrid Deep Learning Framework for Classification of Kidney CT Images: Diagnosis of Stones, Cysts, and </a:t>
            </a:r>
            <a:r>
              <a:rPr lang="en-IN" sz="2000" dirty="0" err="1"/>
              <a:t>Tumors</a:t>
            </a:r>
            <a:r>
              <a:rPr lang="en-IN" sz="2000" dirty="0"/>
              <a:t>,” 2025.</a:t>
            </a:r>
          </a:p>
          <a:p>
            <a:r>
              <a:rPr lang="en-IN" sz="2000" dirty="0"/>
              <a:t>[10] </a:t>
            </a:r>
            <a:r>
              <a:rPr lang="en-IN" sz="2000" dirty="0" err="1"/>
              <a:t>Zenodo</a:t>
            </a:r>
            <a:r>
              <a:rPr lang="en-IN" sz="2000" dirty="0"/>
              <a:t>,</a:t>
            </a:r>
            <a:br>
              <a:rPr lang="en-IN" sz="2000" dirty="0"/>
            </a:br>
            <a:r>
              <a:rPr lang="en-IN" sz="2000" dirty="0"/>
              <a:t>“YOLOv8-Powered Multi-Class Kidney Abnormality Detection via CT,” 2025.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5491245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CB0024-256D-D246-1655-03A019F6C86B}"/>
              </a:ext>
            </a:extLst>
          </p:cNvPr>
          <p:cNvSpPr txBox="1"/>
          <p:nvPr/>
        </p:nvSpPr>
        <p:spPr>
          <a:xfrm>
            <a:off x="876300" y="838200"/>
            <a:ext cx="10439400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[12] M. Zhang, L. Zhou, and Y. Liu,</a:t>
            </a:r>
            <a:br>
              <a:rPr lang="en-IN" sz="2000" dirty="0"/>
            </a:br>
            <a:r>
              <a:rPr lang="en-IN" sz="2000" dirty="0"/>
              <a:t>“</a:t>
            </a:r>
            <a:r>
              <a:rPr lang="en-IN" sz="2000" dirty="0" err="1"/>
              <a:t>KidneyNeXt</a:t>
            </a:r>
            <a:r>
              <a:rPr lang="en-IN" sz="2000" dirty="0"/>
              <a:t>: A Lightweight CNN for Multi-Class </a:t>
            </a:r>
            <a:r>
              <a:rPr lang="en-IN" sz="2000" dirty="0" err="1"/>
              <a:t>Tumor</a:t>
            </a:r>
            <a:r>
              <a:rPr lang="en-IN" sz="2000" dirty="0"/>
              <a:t> Classification in CT Imaging,” </a:t>
            </a:r>
            <a:r>
              <a:rPr lang="en-IN" sz="2000" i="1" dirty="0"/>
              <a:t>Journal of Clinical Medicine</a:t>
            </a:r>
            <a:r>
              <a:rPr lang="en-IN" sz="2000" dirty="0"/>
              <a:t>, vol. 14, no. 14, p. 4929, 2024.</a:t>
            </a:r>
          </a:p>
          <a:p>
            <a:r>
              <a:rPr lang="en-IN" sz="2000" dirty="0"/>
              <a:t>[13] G. E. H. Mamani,</a:t>
            </a:r>
            <a:br>
              <a:rPr lang="en-IN" sz="2000" dirty="0"/>
            </a:br>
            <a:r>
              <a:rPr lang="en-IN" sz="2000" dirty="0"/>
              <a:t>“Kidney Abnormality Segmentation in Thorax-Abdomen CT Scans Using 3D U-Net and </a:t>
            </a:r>
            <a:r>
              <a:rPr lang="en-IN" sz="2000" dirty="0" err="1"/>
              <a:t>nnU</a:t>
            </a:r>
            <a:r>
              <a:rPr lang="en-IN" sz="2000" dirty="0"/>
              <a:t>-Net,” 2023.</a:t>
            </a:r>
          </a:p>
          <a:p>
            <a:r>
              <a:rPr lang="en-IN" sz="2000" dirty="0"/>
              <a:t>[14] D. Saif et al.,</a:t>
            </a:r>
            <a:br>
              <a:rPr lang="en-IN" sz="2000" dirty="0"/>
            </a:br>
            <a:r>
              <a:rPr lang="en-IN" sz="2000" dirty="0"/>
              <a:t>“An Effective Deep Learning Framework for Chronic Kidney Disease Prediction,” </a:t>
            </a:r>
            <a:r>
              <a:rPr lang="en-IN" sz="2000" i="1" dirty="0"/>
              <a:t>Journal of Medical Systems</a:t>
            </a:r>
            <a:r>
              <a:rPr lang="en-IN" sz="2000" dirty="0"/>
              <a:t>, vol. 47, no. 5, pp. 1–10, 2023.</a:t>
            </a:r>
          </a:p>
          <a:p>
            <a:r>
              <a:rPr lang="en-IN" sz="2000" dirty="0"/>
              <a:t>[15] F. </a:t>
            </a:r>
            <a:r>
              <a:rPr lang="en-IN" sz="2000" dirty="0" err="1"/>
              <a:t>Sanmarchi</a:t>
            </a:r>
            <a:r>
              <a:rPr lang="en-IN" sz="2000" dirty="0"/>
              <a:t> et al.,</a:t>
            </a:r>
            <a:br>
              <a:rPr lang="en-IN" sz="2000" dirty="0"/>
            </a:br>
            <a:r>
              <a:rPr lang="en-IN" sz="2000" dirty="0"/>
              <a:t>“Predict, Diagnose, and Treat Chronic Kidney Disease with Machine Learning: A Systematic Literature Review,” </a:t>
            </a:r>
            <a:r>
              <a:rPr lang="en-IN" sz="2000" i="1" dirty="0"/>
              <a:t>Journal of Nephrology</a:t>
            </a:r>
            <a:r>
              <a:rPr lang="en-IN" sz="2000" dirty="0"/>
              <a:t>, vol. 36, no. 4, pp. 1101–1117, 2023.</a:t>
            </a:r>
          </a:p>
          <a:p>
            <a:r>
              <a:rPr lang="en-IN" sz="2000" dirty="0"/>
              <a:t>[16] H. Alghamdi et al.,</a:t>
            </a:r>
            <a:br>
              <a:rPr lang="en-IN" sz="2000" dirty="0"/>
            </a:br>
            <a:r>
              <a:rPr lang="en-IN" sz="2000" dirty="0"/>
              <a:t>“Machine Learning–Driven Insights into Kidney Failure Prediction,” </a:t>
            </a:r>
            <a:r>
              <a:rPr lang="en-IN" sz="2000" i="1" dirty="0"/>
              <a:t>Computers in Biology and Medicine</a:t>
            </a:r>
            <a:r>
              <a:rPr lang="en-IN" sz="2000" dirty="0"/>
              <a:t>, vol. 145, p. 105456, 2025.</a:t>
            </a:r>
          </a:p>
          <a:p>
            <a:r>
              <a:rPr lang="en-IN" sz="2000" dirty="0"/>
              <a:t>[17] E. Taha et al.,</a:t>
            </a:r>
            <a:br>
              <a:rPr lang="en-IN" sz="2000" dirty="0"/>
            </a:br>
            <a:r>
              <a:rPr lang="en-IN" sz="2000" dirty="0"/>
              <a:t>“Enhanced Deep Learning–Based Decision Support System for Kidney Cancer Detection,” </a:t>
            </a:r>
            <a:r>
              <a:rPr lang="en-IN" sz="2000" i="1" dirty="0"/>
              <a:t>Journal of Medical Imaging</a:t>
            </a:r>
            <a:r>
              <a:rPr lang="en-IN" sz="2000" dirty="0"/>
              <a:t>, vol. 11, no. 2, pp. 1–10, 2024.</a:t>
            </a:r>
          </a:p>
          <a:p>
            <a:endParaRPr lang="en-IN" sz="2000" dirty="0"/>
          </a:p>
          <a:p>
            <a:pPr marL="457200" indent="-457200">
              <a:buFont typeface="+mj-lt"/>
              <a:buAutoNum type="arabicPeriod" startAt="8"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0837365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1635125">
              <a:lnSpc>
                <a:spcPct val="100000"/>
              </a:lnSpc>
              <a:spcBef>
                <a:spcPts val="130"/>
              </a:spcBef>
            </a:pPr>
            <a:r>
              <a:rPr dirty="0"/>
              <a:t>QUESTIONS</a:t>
            </a:r>
            <a:r>
              <a:rPr spc="-150" dirty="0"/>
              <a:t> </a:t>
            </a:r>
            <a:r>
              <a:rPr spc="-20" dirty="0"/>
              <a:t>and</a:t>
            </a:r>
            <a:r>
              <a:rPr spc="-265" dirty="0"/>
              <a:t> </a:t>
            </a:r>
            <a:r>
              <a:rPr spc="-10" dirty="0"/>
              <a:t>ANSWERS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ED7CAE-1FE6-051F-E875-F134CA86A4B6}"/>
              </a:ext>
            </a:extLst>
          </p:cNvPr>
          <p:cNvSpPr txBox="1"/>
          <p:nvPr/>
        </p:nvSpPr>
        <p:spPr>
          <a:xfrm>
            <a:off x="1295400" y="1143000"/>
            <a:ext cx="10210800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1️⃣ </a:t>
            </a:r>
            <a:r>
              <a:rPr lang="en-US" b="1" dirty="0"/>
              <a:t>Q: What is the main contribution of your project?</a:t>
            </a:r>
            <a:br>
              <a:rPr lang="en-US" dirty="0"/>
            </a:br>
            <a:r>
              <a:rPr lang="en-US" dirty="0"/>
              <a:t>A: We developed a </a:t>
            </a:r>
            <a:r>
              <a:rPr lang="en-US" b="1" dirty="0"/>
              <a:t>YOLOv8n-cls–based lightweight model</a:t>
            </a:r>
            <a:r>
              <a:rPr lang="en-US" dirty="0"/>
              <a:t> that classifies kidney CT scan images into four categories — </a:t>
            </a:r>
            <a:r>
              <a:rPr lang="en-US" i="1" dirty="0"/>
              <a:t>Normal, Cyst, Stone,</a:t>
            </a:r>
            <a:r>
              <a:rPr lang="en-US" dirty="0"/>
              <a:t> and </a:t>
            </a:r>
            <a:r>
              <a:rPr lang="en-US" i="1" dirty="0"/>
              <a:t>Tumor.</a:t>
            </a:r>
            <a:r>
              <a:rPr lang="en-US" dirty="0"/>
              <a:t> It enhances early diagnosis accuracy and reduces manual effort in medical image analysis.</a:t>
            </a:r>
          </a:p>
          <a:p>
            <a:endParaRPr lang="en-US" b="1" dirty="0"/>
          </a:p>
          <a:p>
            <a:r>
              <a:rPr lang="en-US" b="1" dirty="0"/>
              <a:t>2️⃣ Q: Why did you choose YOLOv8n-cls?</a:t>
            </a:r>
            <a:br>
              <a:rPr lang="en-US" dirty="0"/>
            </a:br>
            <a:r>
              <a:rPr lang="en-US" dirty="0"/>
              <a:t>A: Because </a:t>
            </a:r>
            <a:r>
              <a:rPr lang="en-US" b="1" dirty="0"/>
              <a:t>YOLOv8n-cls</a:t>
            </a:r>
            <a:r>
              <a:rPr lang="en-US" dirty="0"/>
              <a:t> offers high speed, strong accuracy, and real-time performance even on limited hardware. It’s lightweight, easy to train, and perfect for medical imaging tasks where precision and speed both matter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4️⃣ Q: What accuracy did your model achieve?</a:t>
            </a:r>
            <a:br>
              <a:rPr lang="en-US" dirty="0"/>
            </a:br>
            <a:r>
              <a:rPr lang="en-US" dirty="0"/>
              <a:t>A: The model achieved </a:t>
            </a:r>
            <a:r>
              <a:rPr lang="en-US" b="1" dirty="0"/>
              <a:t>96.88% validation accuracy</a:t>
            </a:r>
            <a:r>
              <a:rPr lang="en-US" dirty="0"/>
              <a:t>, proving its reliability for multi-class kidney disease classification.</a:t>
            </a:r>
          </a:p>
          <a:p>
            <a:endParaRPr lang="en-US" dirty="0"/>
          </a:p>
          <a:p>
            <a:r>
              <a:rPr lang="en-US" b="1" dirty="0"/>
              <a:t>5️⃣ Q: What tools and technologies did you use?</a:t>
            </a:r>
            <a:br>
              <a:rPr lang="en-US" dirty="0"/>
            </a:br>
            <a:r>
              <a:rPr lang="en-US" dirty="0"/>
              <a:t>A: We used </a:t>
            </a:r>
            <a:r>
              <a:rPr lang="en-US" b="1" dirty="0"/>
              <a:t>Python, YOLOv8 (</a:t>
            </a:r>
            <a:r>
              <a:rPr lang="en-US" b="1" dirty="0" err="1"/>
              <a:t>Ultralytics</a:t>
            </a:r>
            <a:r>
              <a:rPr lang="en-US" b="1" dirty="0"/>
              <a:t>), OpenCV, and Google Colab</a:t>
            </a:r>
            <a:r>
              <a:rPr lang="en-US" dirty="0"/>
              <a:t> with a </a:t>
            </a:r>
            <a:r>
              <a:rPr lang="en-US" b="1" dirty="0"/>
              <a:t>Tesla T4 GPU</a:t>
            </a:r>
            <a:r>
              <a:rPr lang="en-US" dirty="0"/>
              <a:t> for training.</a:t>
            </a:r>
          </a:p>
          <a:p>
            <a:r>
              <a:rPr lang="en-US" sz="2000" dirty="0"/>
              <a:t>.</a:t>
            </a:r>
            <a:endParaRPr lang="en-IN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5463" y="283463"/>
            <a:ext cx="10101072" cy="1619673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133600">
              <a:lnSpc>
                <a:spcPct val="100000"/>
              </a:lnSpc>
              <a:spcBef>
                <a:spcPts val="130"/>
              </a:spcBef>
            </a:pPr>
            <a:br>
              <a:rPr lang="en-US" spc="-10" dirty="0"/>
            </a:br>
            <a:r>
              <a:rPr spc="-10" dirty="0"/>
              <a:t>ACKNOWLEGEMENTS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273D1B-3FC2-D766-5D4E-91ADAC9AEA4C}"/>
              </a:ext>
            </a:extLst>
          </p:cNvPr>
          <p:cNvSpPr txBox="1"/>
          <p:nvPr/>
        </p:nvSpPr>
        <p:spPr>
          <a:xfrm>
            <a:off x="1295400" y="2967335"/>
            <a:ext cx="105156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highlight>
                  <a:srgbClr val="C0C0C0"/>
                </a:highlight>
              </a:rPr>
              <a:t>I sincerely thank our Head of Department, Project Guide, and Faculty Members for their continuous support and guidance throughout this project</a:t>
            </a:r>
            <a:r>
              <a:rPr lang="en-US" sz="2400" dirty="0">
                <a:highlight>
                  <a:srgbClr val="C0C0C0"/>
                </a:highlight>
              </a:rPr>
              <a:t>.</a:t>
            </a:r>
            <a:endParaRPr lang="en-IN" sz="2400" dirty="0">
              <a:highlight>
                <a:srgbClr val="C0C0C0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1903</TotalTime>
  <Words>2936</Words>
  <Application>Microsoft Office PowerPoint</Application>
  <PresentationFormat>Widescreen</PresentationFormat>
  <Paragraphs>343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Arial MT</vt:lpstr>
      <vt:lpstr>Calibri</vt:lpstr>
      <vt:lpstr>Times New Roman</vt:lpstr>
      <vt:lpstr>Office Theme</vt:lpstr>
      <vt:lpstr>Department of Computer Science and Engineering A DEEP LEARNING MODEL FOR AUTOMATED KIDNEY DISEASE CLASSIFICATION USING CT IMAGING</vt:lpstr>
      <vt:lpstr>OUTLINE</vt:lpstr>
      <vt:lpstr>                       ABSTRACT Developed an AI-powered diagnostic framework for automated kidney disease classification using CT images. Implemented a lightweight YOLOv8n-cls model to classify CT scans into Normal, Cyst, Stone, and Tumor categories. Applied image preprocessing (CLAHE, denoising, resizing) and data augmentation to enhance accuracy and balance the dataset. Achieved a classification accuracy of 96.88%, proving effective even on CPU-based systems. Designed for low-resource and rural healthcare settings, enabling real-time, reliable, and interpretable disease detection. </vt:lpstr>
      <vt:lpstr>INTRODUCTION</vt:lpstr>
      <vt:lpstr>LITERATURE SURVEY</vt:lpstr>
      <vt:lpstr>PowerPoint Presentation</vt:lpstr>
      <vt:lpstr>LITERATURE SURVEY</vt:lpstr>
      <vt:lpstr>PowerPoint Presentation</vt:lpstr>
      <vt:lpstr>RESEARCH GAPS</vt:lpstr>
      <vt:lpstr>PROBLEM STATEMENT</vt:lpstr>
      <vt:lpstr>OBJECTIVES</vt:lpstr>
      <vt:lpstr>BLOCK DIAGRAM OR FLOW DIAGRAM</vt:lpstr>
      <vt:lpstr>METHODOLOGY</vt:lpstr>
      <vt:lpstr>Sample Dataset images       </vt:lpstr>
      <vt:lpstr>PowerPoint Presentation</vt:lpstr>
      <vt:lpstr>IMPLEMENTATION</vt:lpstr>
      <vt:lpstr>RESULTS &amp; ANALYSIS</vt:lpstr>
      <vt:lpstr>PowerPoint Presentation</vt:lpstr>
      <vt:lpstr>CONCLUSION and FUTURE SCOPE</vt:lpstr>
      <vt:lpstr>REFERENCES</vt:lpstr>
      <vt:lpstr>PowerPoint Presentation</vt:lpstr>
      <vt:lpstr>PowerPoint Presentation</vt:lpstr>
      <vt:lpstr>QUESTIONS and ANSWERS</vt:lpstr>
      <vt:lpstr> ACKNOWLEGEMENTS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asritha khajjayam</dc:creator>
  <cp:lastModifiedBy>22471A05B 7</cp:lastModifiedBy>
  <cp:revision>3</cp:revision>
  <dcterms:created xsi:type="dcterms:W3CDTF">2025-11-08T13:05:15Z</dcterms:created>
  <dcterms:modified xsi:type="dcterms:W3CDTF">2025-11-10T16:35:28Z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2024-12-19T00:00:00Z</vt:filetime>
  </property>
  <property fmtid="{D5CDD505-2E9C-101B-9397-08002B2CF9AE}" pid="3" name="LastSaved">
    <vt:filetime>2025-11-08T00:00:00Z</vt:filetime>
  </property>
</Properties>
</file>