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9" r:id="rId8"/>
    <p:sldId id="265" r:id="rId9"/>
    <p:sldId id="270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42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1533184" y="4859219"/>
            <a:ext cx="9946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 A DEEP LEARNING MODEL FOR AUTOMATED KIDNEY DISEASE CLASSIFICATION USING CT IMAGING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ID:681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Name:Karishma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Pathan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Authors:Karishma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Pathan, Sireesha Moturi,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Gangaram Sumiya, Koduri Sowjanya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 Department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CSE,Narasaraopeta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College, Andhra Pradesh, India</a:t>
            </a: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95" y="14386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A0382-2736-57B0-52CD-EFD752469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097" y="755178"/>
            <a:ext cx="5456903" cy="536841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628FE1C-B8AF-6A7D-9B9C-C031E1306A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098" y="1286571"/>
            <a:ext cx="596818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Kidney diseases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among the leading causes of chronic illness and mortality worldwide.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crucial to prevent kidney failure and improve patient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CT images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radiologist expertise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Prone to human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93" y="14386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D229-4B71-397C-F958-74987BFA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691" y="1642968"/>
            <a:ext cx="9688296" cy="4206151"/>
          </a:xfrm>
        </p:spPr>
        <p:txBody>
          <a:bodyPr anchor="t">
            <a:norm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 diseases cause high mortality and chronic health complications globally.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CT diagnosis is slow, requires expert radiologists, and risks misclassification.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struggle with low accuracy, poor generalization, and class imbalance.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Deep Learning Model for Automated Kidney Disease Classification using CT imaging.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transfer learning with advanced CNN architectures for multi-class classification.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robust preprocessing pipeline to handle noise, artifacts, and data imbalance.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AI-driven decision support for reliable and early disease detection.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classification accuracy (95–99%), outperforming traditional models.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310" y="-173840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8994A-0005-9834-FF33-01297617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52" y="1642969"/>
            <a:ext cx="9688296" cy="4658440"/>
          </a:xfrm>
        </p:spPr>
        <p:txBody>
          <a:bodyPr anchor="t">
            <a:normAutofit lnSpcReduction="10000"/>
          </a:bodyPr>
          <a:lstStyle/>
          <a:p>
            <a:r>
              <a:rPr lang="en-IN" sz="2000" dirty="0"/>
              <a:t>S. D. Pande &amp; R. Agarwal (2024) – Developed a multi-class kidney abnormality detection system using CT images, achieving high precision through deep learning and clinical validation.</a:t>
            </a:r>
          </a:p>
          <a:p>
            <a:r>
              <a:rPr lang="en-IN" sz="2000" dirty="0" err="1"/>
              <a:t>Pimpalkar</a:t>
            </a:r>
            <a:r>
              <a:rPr lang="en-IN" sz="2000" dirty="0"/>
              <a:t> et al. (2025) – Proposed fine-tuned DL models for early kidney condition detection from CT scans, reaching state-of-the-art accuracy across multiple pathologies.</a:t>
            </a:r>
          </a:p>
          <a:p>
            <a:r>
              <a:rPr lang="en-IN" sz="2000" dirty="0"/>
              <a:t>Zhang et al. (2024) – Introduced </a:t>
            </a:r>
            <a:r>
              <a:rPr lang="en-IN" sz="2000" dirty="0" err="1"/>
              <a:t>KidneyNeXt</a:t>
            </a:r>
            <a:r>
              <a:rPr lang="en-IN" sz="2000" dirty="0"/>
              <a:t>, a lightweight CNN architecture optimized for </a:t>
            </a:r>
            <a:r>
              <a:rPr lang="en-IN" sz="2000" dirty="0" err="1"/>
              <a:t>tumor</a:t>
            </a:r>
            <a:r>
              <a:rPr lang="en-IN" sz="2000" dirty="0"/>
              <a:t> classification; provided fast inference with minimal computational cost.</a:t>
            </a:r>
          </a:p>
          <a:p>
            <a:r>
              <a:rPr lang="en-IN" sz="2000" dirty="0" err="1"/>
              <a:t>Zenodo</a:t>
            </a:r>
            <a:r>
              <a:rPr lang="en-IN" sz="2000" dirty="0"/>
              <a:t> (2025) – Implemented YOLOv8-based CT classification for identifying multi-class kidney abnormalities, offering a single-pass and efficient detection pipeline.</a:t>
            </a:r>
          </a:p>
          <a:p>
            <a:r>
              <a:rPr lang="en-IN" sz="2000" dirty="0"/>
              <a:t>Saif et al. (2023) – Designed a deep CNN framework for chronic kidney disease prediction, achieving robust accuracy and demonstrating clinical viability.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Research Gap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focus on classification or detection only.</a:t>
            </a:r>
          </a:p>
          <a:p>
            <a:pPr lvl="1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60" y="-251259"/>
            <a:ext cx="10437067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)based Classification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A930-5FD7-9109-8AD9-8DB421492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29" y="1473221"/>
            <a:ext cx="9688296" cy="3454358"/>
          </a:xfrm>
        </p:spPr>
        <p:txBody>
          <a:bodyPr anchor="t"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Model Workflow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Image Preprocessing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noise and standardized CT images to 224×224.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CLAHE and augmentation (rotation, flip, brightness).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Dataset Structuring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images into five kidney disease classes.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for training, validation, and testing with balanced samples.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Model Training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high-speed and precise classification.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performance using transfer learning and fine-tuning.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Overall Flow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Images → Preprocessing → Augmentation → Dataset Structuring → YOLOv8 Training → Disease Classification Output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411924-3DC3-016A-9CC7-F0F94623A1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06" y="1179074"/>
            <a:ext cx="4761334" cy="429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2F878-D080-409A-D754-7DA2611A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C23408F-1DCC-20AB-B4D2-C23CC1C75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8601-39B9-26CD-DB99-7E4C0AB14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46" y="-124679"/>
            <a:ext cx="9688296" cy="1287558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3F8399-FB95-5655-F05B-D943AA76A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F687E7-3D64-0F22-301A-719F5A05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FC47192-711B-414D-C362-034F53CB70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F056882-F41B-AEEB-7946-C5AC268C81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3564" y="1537503"/>
            <a:ext cx="1004487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💻 System Configuration: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10 OS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Intel® Core™ i5 Processor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 GB RAM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dedicated GPU (CPU-based training)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🧠 Development Environment: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YOLOv8, OpenCV, NumPy, Matplotlib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🗂️ Dataset: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Kidney CT image dataset (4 classes – </a:t>
            </a:r>
            <a:r>
              <a:rPr lang="en-US" sz="2000" i="1" dirty="0"/>
              <a:t>Normal, Tumor, Cyst, Stone</a:t>
            </a:r>
            <a:r>
              <a:rPr lang="en-US" sz="2000" dirty="0"/>
              <a:t>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⚙️ Performance Focus: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and data-loading optimized for CPU efficiency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lightweight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for low-resource environments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21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67" y="-310060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7FD8-CEC3-D9E8-58E8-91C55962A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979" y="1189703"/>
            <a:ext cx="9688296" cy="37378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Performance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/>
              <a:t>Model:</a:t>
            </a:r>
            <a:r>
              <a:rPr lang="en-IN" sz="1600" dirty="0"/>
              <a:t> YOLOv8n-cls trained for </a:t>
            </a:r>
            <a:r>
              <a:rPr lang="en-IN" sz="1600" b="1" dirty="0"/>
              <a:t>10 epochs</a:t>
            </a:r>
            <a:r>
              <a:rPr lang="en-IN" sz="1600" dirty="0"/>
              <a:t> using </a:t>
            </a:r>
            <a:r>
              <a:rPr lang="en-IN" sz="1600" b="1" dirty="0" err="1"/>
              <a:t>AdamW</a:t>
            </a:r>
            <a:r>
              <a:rPr lang="en-IN" sz="1600" b="1" dirty="0"/>
              <a:t> optimizer</a:t>
            </a:r>
            <a:r>
              <a:rPr lang="en-IN" sz="1600" dirty="0"/>
              <a:t>.</a:t>
            </a:r>
          </a:p>
          <a:p>
            <a:r>
              <a:rPr lang="en-IN" sz="1600" b="1" dirty="0"/>
              <a:t>Validation Accuracy:</a:t>
            </a:r>
            <a:r>
              <a:rPr lang="en-IN" sz="1600" dirty="0"/>
              <a:t> Achieved </a:t>
            </a:r>
            <a:r>
              <a:rPr lang="en-IN" sz="1600" b="1" dirty="0"/>
              <a:t>96.88%</a:t>
            </a:r>
            <a:r>
              <a:rPr lang="en-IN" sz="1600" dirty="0"/>
              <a:t>, ensuring stable generalization.</a:t>
            </a:r>
          </a:p>
          <a:p>
            <a:r>
              <a:rPr lang="en-IN" sz="1600" b="1" dirty="0"/>
              <a:t>Training Trend:</a:t>
            </a:r>
            <a:r>
              <a:rPr lang="en-IN" sz="1600" dirty="0"/>
              <a:t> Smooth loss reduction with </a:t>
            </a:r>
            <a:r>
              <a:rPr lang="en-IN" sz="1600" b="1" dirty="0"/>
              <a:t>no signs of overfitting</a:t>
            </a:r>
            <a:r>
              <a:rPr lang="en-IN" sz="1600" dirty="0"/>
              <a:t>.</a:t>
            </a:r>
          </a:p>
          <a:p>
            <a:r>
              <a:rPr lang="en-IN" sz="1600" dirty="0"/>
              <a:t>Model effectively adapted to </a:t>
            </a:r>
            <a:r>
              <a:rPr lang="en-IN" sz="1600" b="1" dirty="0"/>
              <a:t>four kidney CT classes</a:t>
            </a:r>
            <a:r>
              <a:rPr lang="en-IN" sz="1600" dirty="0"/>
              <a:t> — </a:t>
            </a:r>
            <a:r>
              <a:rPr lang="en-IN" sz="1600" i="1" dirty="0"/>
              <a:t>Normal, Cyst, Stone,</a:t>
            </a:r>
            <a:r>
              <a:rPr lang="en-IN" sz="1600" dirty="0"/>
              <a:t> and </a:t>
            </a:r>
            <a:r>
              <a:rPr lang="en-IN" sz="1600" i="1" dirty="0" err="1"/>
              <a:t>Tumor</a:t>
            </a:r>
            <a:r>
              <a:rPr lang="en-IN" sz="1600" i="1" dirty="0"/>
              <a:t>.</a:t>
            </a:r>
          </a:p>
          <a:p>
            <a:r>
              <a:rPr lang="en-US" sz="1600" dirty="0"/>
              <a:t>Confusion matrix shows </a:t>
            </a:r>
            <a:r>
              <a:rPr lang="en-US" sz="1600" b="1" dirty="0"/>
              <a:t>high class-wise accuracy</a:t>
            </a:r>
            <a:r>
              <a:rPr lang="en-US" sz="1600" dirty="0"/>
              <a:t> across all four kidney disease types — </a:t>
            </a:r>
            <a:r>
              <a:rPr lang="en-US" sz="1600" i="1" dirty="0"/>
              <a:t>Normal, Cyst, Stone,</a:t>
            </a:r>
            <a:r>
              <a:rPr lang="en-US" sz="1600" dirty="0"/>
              <a:t> and </a:t>
            </a:r>
            <a:r>
              <a:rPr lang="en-US" sz="1600" i="1" dirty="0"/>
              <a:t>Tumor.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existing CNN-based models in both accuracy and robustness, even under CPU-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settings</a:t>
            </a:r>
            <a:r>
              <a:rPr lang="en-US" sz="1600" dirty="0"/>
              <a:t>.</a:t>
            </a:r>
            <a:endParaRPr lang="en-IN" sz="1600" dirty="0"/>
          </a:p>
          <a:p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91C8D1-3277-9CA0-A4D2-6135CE456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562110"/>
              </p:ext>
            </p:extLst>
          </p:nvPr>
        </p:nvGraphicFramePr>
        <p:xfrm>
          <a:off x="835742" y="4041058"/>
          <a:ext cx="3559277" cy="196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918">
                  <a:extLst>
                    <a:ext uri="{9D8B030D-6E8A-4147-A177-3AD203B41FA5}">
                      <a16:colId xmlns:a16="http://schemas.microsoft.com/office/drawing/2014/main" val="2211774676"/>
                    </a:ext>
                  </a:extLst>
                </a:gridCol>
                <a:gridCol w="1506359">
                  <a:extLst>
                    <a:ext uri="{9D8B030D-6E8A-4147-A177-3AD203B41FA5}">
                      <a16:colId xmlns:a16="http://schemas.microsoft.com/office/drawing/2014/main" val="911313808"/>
                    </a:ext>
                  </a:extLst>
                </a:gridCol>
              </a:tblGrid>
              <a:tr h="392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116113"/>
                  </a:ext>
                </a:extLst>
              </a:tr>
              <a:tr h="39270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11711"/>
                  </a:ext>
                </a:extLst>
              </a:tr>
              <a:tr h="392700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289986"/>
                  </a:ext>
                </a:extLst>
              </a:tr>
              <a:tr h="392700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7010"/>
                  </a:ext>
                </a:extLst>
              </a:tr>
              <a:tr h="392700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03171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6EFC15D-4CC3-9F4E-C9DE-BA5DD56BB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631" y="3834623"/>
            <a:ext cx="3829879" cy="2411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BD013-F828-15CE-BE05-1A8977D70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553" y="3720002"/>
            <a:ext cx="3646128" cy="264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3F050-6FDC-1DA1-FF4C-F6863434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2165F6-DD6E-0F48-8021-BF4C1DA5D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E4C7E-2195-CA81-CF9E-6515CC9A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511424"/>
            <a:ext cx="10122541" cy="1009263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D903-9E8B-83EE-465A-78AECFEAA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9" y="1848678"/>
            <a:ext cx="9781083" cy="40240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/>
            <a:r>
              <a:rPr lang="en-US" sz="2000" dirty="0"/>
              <a:t>Proposed an </a:t>
            </a:r>
            <a:r>
              <a:rPr lang="en-US" sz="2000" b="1" dirty="0"/>
              <a:t>AI-powered framework</a:t>
            </a:r>
            <a:r>
              <a:rPr lang="en-US" sz="2000" dirty="0"/>
              <a:t> for automated kidney CT image classification into </a:t>
            </a:r>
            <a:r>
              <a:rPr lang="en-US" sz="2000" b="1" dirty="0"/>
              <a:t>Normal, Cyst, Stone,</a:t>
            </a:r>
            <a:r>
              <a:rPr lang="en-US" sz="2000" dirty="0"/>
              <a:t> and </a:t>
            </a:r>
            <a:r>
              <a:rPr lang="en-US" sz="2000" b="1" dirty="0"/>
              <a:t>Tumor</a:t>
            </a:r>
            <a:r>
              <a:rPr lang="en-US" sz="2000" dirty="0"/>
              <a:t> categories. </a:t>
            </a:r>
          </a:p>
          <a:p>
            <a:pPr lvl="1"/>
            <a:r>
              <a:rPr lang="en-US" sz="2000" dirty="0"/>
              <a:t>Achieved </a:t>
            </a:r>
            <a:r>
              <a:rPr lang="en-US" sz="2000" b="1" dirty="0"/>
              <a:t>96.88% accuracy</a:t>
            </a:r>
            <a:r>
              <a:rPr lang="en-US" sz="2000" dirty="0"/>
              <a:t>, ensuring high reliability and computational efficiency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1"/>
            <a:r>
              <a:rPr lang="en-US" sz="2000" dirty="0"/>
              <a:t>Validate model on </a:t>
            </a:r>
            <a:r>
              <a:rPr lang="en-US" sz="2000" b="1" dirty="0"/>
              <a:t>multi-center real-world datasets</a:t>
            </a:r>
            <a:r>
              <a:rPr lang="en-US" sz="2000" dirty="0"/>
              <a:t> for broader generalization.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/>
              <a:t>Apply </a:t>
            </a:r>
            <a:r>
              <a:rPr lang="en-US" sz="2000" b="1" dirty="0"/>
              <a:t>K-Fold Cross-Validation</a:t>
            </a:r>
            <a:r>
              <a:rPr lang="en-US" sz="2000" dirty="0"/>
              <a:t> for stronger performance evaluation.</a:t>
            </a:r>
          </a:p>
          <a:p>
            <a:pPr lvl="1"/>
            <a:r>
              <a:rPr lang="en-US" sz="2000" dirty="0"/>
              <a:t>Optimize for </a:t>
            </a:r>
            <a:r>
              <a:rPr lang="en-US" sz="2000" b="1" dirty="0"/>
              <a:t>edge and mobile deployment</a:t>
            </a:r>
            <a:r>
              <a:rPr lang="en-US" sz="2000" dirty="0"/>
              <a:t> to support rural diagnostics.</a:t>
            </a:r>
          </a:p>
          <a:p>
            <a:pPr lvl="1"/>
            <a:r>
              <a:rPr lang="en-US" sz="2000" dirty="0"/>
              <a:t>Conduct </a:t>
            </a:r>
            <a:r>
              <a:rPr lang="en-US" sz="2000" b="1" dirty="0"/>
              <a:t>clinical trials</a:t>
            </a:r>
            <a:r>
              <a:rPr lang="en-US" sz="2000" dirty="0"/>
              <a:t> and compare outcomes with radiologist assessments.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465D21-DCAB-0878-1509-C12B4569F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B1322F-7599-A292-158A-028EC8203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4F02C2D0-9BF6-02BA-9062-250B8075F8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12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5"/>
            <a:ext cx="9688296" cy="999324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910E-7C5B-2153-7E05-D1B777D40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729409"/>
            <a:ext cx="9688296" cy="4143358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D. Pande and R. Agarwal, “Multi-class kidney abnormalities detecting novel system through computed tomography,” IEEE Access, vol. 12, 2024.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Pimpalkar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Shinde, and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Talmale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“Fine-tuned deep learning models for early detection and classification of kidney conditions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imaging,” Scientific Reports, vol. 15, no. 1, 2025.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Zhang, L. Zhou, and Y. Liu,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Kidneynext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lightweight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multi-class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imaging,” Journal of Clinical Medicine, vol. 14, no. 14, p. 4929, 2024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“Yolov8-powered multi-class kidney abnormality detection via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2025.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D. Saif et al., “An effective deep learning framework for chronic kidney disease prediction,” Journal of Medical Systems, vol. 47, no. 5, pp. 1–10, 2023</a:t>
            </a:r>
            <a:r>
              <a:rPr lang="en-US" sz="2000" dirty="0"/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8BF324-D5F0-E912-1399-B52BB762E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5"/>
            <a:ext cx="9688296" cy="949628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36A8-DB5A-3343-84E7-6DDC5CE4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461053"/>
            <a:ext cx="9688296" cy="441171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Improvements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English and grammar throughout the paper.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and added author names and affiliations correctly.</a:t>
            </a:r>
          </a:p>
          <a:p>
            <a:pPr lvl="1"/>
            <a:r>
              <a:rPr lang="en-US" sz="2000" dirty="0"/>
              <a:t>Improve </a:t>
            </a:r>
            <a:r>
              <a:rPr lang="en-US" sz="2000" b="1" dirty="0"/>
              <a:t>figure resolution</a:t>
            </a:r>
            <a:r>
              <a:rPr lang="en-US" sz="2000" dirty="0"/>
              <a:t>, </a:t>
            </a:r>
            <a:r>
              <a:rPr lang="en-US" sz="2000" b="1" dirty="0"/>
              <a:t>annotation clarity</a:t>
            </a:r>
            <a:r>
              <a:rPr lang="en-US" sz="2000" dirty="0"/>
              <a:t>, and overall </a:t>
            </a:r>
            <a:r>
              <a:rPr lang="en-US" sz="2000" b="1" dirty="0"/>
              <a:t>academic writing tone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/>
              <a:t>Replace informal phrases with </a:t>
            </a:r>
            <a:r>
              <a:rPr lang="en-US" sz="2000" b="1" dirty="0"/>
              <a:t>technical expressions</a:t>
            </a:r>
            <a:r>
              <a:rPr lang="en-US" sz="2000" dirty="0"/>
              <a:t> (e.g., “smart system” → “automated diagnostic framework”).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Improvements</a:t>
            </a:r>
          </a:p>
          <a:p>
            <a:pPr lvl="1"/>
            <a:r>
              <a:rPr lang="en-US" sz="2000" dirty="0"/>
              <a:t>Integrate </a:t>
            </a:r>
            <a:r>
              <a:rPr lang="en-US" sz="2000" b="1" dirty="0"/>
              <a:t>ensemble learning</a:t>
            </a:r>
            <a:r>
              <a:rPr lang="en-US" sz="2000" dirty="0"/>
              <a:t> by combining YOLOv8 with CNN or Transformer-based models for hybrid feature extraction. </a:t>
            </a:r>
          </a:p>
          <a:p>
            <a:pPr lvl="1"/>
            <a:r>
              <a:rPr lang="en-US" sz="2000" dirty="0"/>
              <a:t>Add </a:t>
            </a:r>
            <a:r>
              <a:rPr lang="en-US" sz="2000" b="1" dirty="0"/>
              <a:t>attention modules</a:t>
            </a:r>
            <a:r>
              <a:rPr lang="en-US" sz="2000" dirty="0"/>
              <a:t> (e.g., SE Block or CBAM) to improve focus on lesion regions and enhance classification precision.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20D80-9ED4-8584-7740-FE84BCADA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DF2BD-6B17-41FF-EEA0-EC97FF6B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1073</Words>
  <Application>Microsoft Office PowerPoint</Application>
  <PresentationFormat>Widescreen</PresentationFormat>
  <Paragraphs>114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Model Vision Transformer (ViT)based Classification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22471A05B 7</cp:lastModifiedBy>
  <cp:revision>14</cp:revision>
  <dcterms:created xsi:type="dcterms:W3CDTF">2025-10-21T04:39:10Z</dcterms:created>
  <dcterms:modified xsi:type="dcterms:W3CDTF">2025-11-01T15:07:56Z</dcterms:modified>
</cp:coreProperties>
</file>